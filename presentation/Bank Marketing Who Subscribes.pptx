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0:20 (total 0:20). Hi, I’m Tamim. My project is about a bank that sells term deposits by phone, and whether we can predict who says yes before we call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1:00). The bank runs phone campaigns. Every call costs an agent’s time, and most clients say no. So the idea is: before we call someone, predict if they’ll subscribe. The marketing team can then sort the call list and skip the hopeless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1:40). The data is the UCI Bank Marketing dataset, 41k calls over two and a half years. A few traps: the call duration predicts the answer almost perfectly, but you only know it after the call, so it had to go. Missing values are hidden as “unknown” and 999. And the rows are sorted by date, which becomes important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0:45 (total 2:25). Only about one in nine clients says yes. That makes accuracy useless: a model that always says no is 89% accurate and never finds a customer. A missed yes is a lost sale, so I use F1, which balances finding the subscribers and not wasting calls. The baseline is what the bank basically does now: call everyone. That gives an F1 of 0.203, and that’s the number every model has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0:45 (total 3:10). I compared four model families on exactly the same folds. Everything beats the baseline. Gradient boosting with balanced class weights is the best, logistic regression second, and the gap is bigger than the spread across the folds. I also tuned the two best ones, but the defaults were already as good, so I kept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0:35 (total 3:45). With only 11% yes, the model has to be pushed to say yes more often. I compared class weights, SMOTE and doing nothing. At the default threshold the difference is big, but once you move the threshold they all end up at the same F1. So the threshold is what matters. I chose 0.60: F1 is almost at its best there, and since a missed customer is worse than a wasted call, I take the lower threshold that finds a few more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4:25). On the test set, used only once at the very end, the model gets 0.519. That’s close to the cross-validation estimate, so no sign of overfitting, and about 2.5 times the baseline. In business terms: the bank would make only 15% of the calls and still reach 61% of the people who would subscribe.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0:50 (total 5:15). This is the most important slide. When I split the test errors by period, the model basically does two things: in the bad economic periods, where almost half the people said yes, it calls nearly everyone. In the good periods it calls almost nobody and misses nearly all subscribers there. Only in one period does it really pick client by client. So a big part of the score comes from knowing when the call happened. It’s also weak for landline clients and for clients who were never contacted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0:40 (total 5:55). Permutation importance says the same thing: shuffle nr.employed and F1 drops by 0.23, way more than anything else. The economy columns share their importance because they move together. For the bank this means: timing matters more than the client. Within a period, the good signs are a success in the last campaign, a mobile number, and young or retired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0:55 (total 6:50). The honest conclusion: the random test split flatters the model, because train and test come from the same periods. When I trained on the older calls and tested on the newer ones, it did worse than calling everyone. So I wouldn’t use it as it is for a new campaign. But the patterns are useful right away. With another week I’d validate by time, try a model without the economy columns, and get real costs from the bank to set the threshold with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3:00 (total 9:50). Switch to notebook 03, section 5. 1) Run the cell that loads models/bank_marketing_model.joblib. 2) Run the five test clients: one gets a call, four are skipped, which fits the 15% call rate. 3) Run the made-up client: retired, 67, mobile, called in a bad economic period: 0.81, call. 4) Run the same client in a good period: 0.37, skip. That’s the period effect from the errors slide. 5) Give the same client a past success: 0.69, call again. Close with: the model works, but it mostly knows when to call, not who.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0:10 (total 10:00).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20700"/>
          </a:xfrm>
          <a:prstGeom prst="rect">
            <a:avLst/>
          </a:prstGeom>
          <a:noFill/>
          <a:ln/>
        </p:spPr>
        <p:txBody>
          <a:bodyPr wrap="square" lIns="0" tIns="0" rIns="0" bIns="0" rtlCol="0" anchor="t"/>
          <a:lstStyle>
            <a:lvl1pPr algn="l" indent="0" marL="0">
              <a:lnSpc>
                <a:spcPct val="115000"/>
              </a:lnSpc>
              <a:buNone/>
              <a:defRPr lang="en-US" sz="3600" dirty="0">
                <a:solidFill>
                  <a:srgbClr val="111111"/>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38300"/>
            <a:ext cx="10566400" cy="4406900"/>
          </a:xfrm>
          <a:prstGeom prst="rect">
            <a:avLst/>
          </a:prstGeom>
          <a:noFill/>
          <a:ln/>
        </p:spPr>
        <p:txBody>
          <a:bodyPr wrap="square" lIns="0" tIns="0" rIns="0" bIns="0" rtlCol="0" anchor="t"/>
          <a:lstStyle>
            <a:lvl1pPr algn="l" indent="0" marL="0">
              <a:lnSpc>
                <a:spcPct val="140000"/>
              </a:lnSpc>
              <a:buNone/>
              <a:defRPr lang="en-US" sz="1600" dirty="0">
                <a:solidFill>
                  <a:srgbClr val="111111"/>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20700"/>
          </a:xfrm>
          <a:prstGeom prst="rect">
            <a:avLst/>
          </a:prstGeom>
          <a:noFill/>
          <a:ln/>
        </p:spPr>
        <p:txBody>
          <a:bodyPr wrap="square" lIns="0" tIns="0" rIns="0" bIns="0" rtlCol="0" anchor="t"/>
          <a:lstStyle>
            <a:lvl1pPr algn="l" indent="0" marL="0">
              <a:lnSpc>
                <a:spcPct val="115000"/>
              </a:lnSpc>
              <a:buNone/>
              <a:defRPr lang="en-US" sz="3600" dirty="0">
                <a:solidFill>
                  <a:srgbClr val="111111"/>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38300"/>
            <a:ext cx="10566400" cy="4406900"/>
          </a:xfrm>
          <a:prstGeom prst="rect">
            <a:avLst/>
          </a:prstGeom>
          <a:noFill/>
          <a:ln/>
        </p:spPr>
        <p:txBody>
          <a:bodyPr wrap="square" lIns="0" tIns="0" rIns="0" bIns="0" rtlCol="0" anchor="t"/>
          <a:lstStyle>
            <a:lvl1pPr algn="l" indent="0" marL="0">
              <a:lnSpc>
                <a:spcPct val="140000"/>
              </a:lnSpc>
              <a:buNone/>
              <a:defRPr lang="en-US" sz="1600" dirty="0">
                <a:solidFill>
                  <a:srgbClr val="111111"/>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178752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Project 2 · Machine Learning: From Data to Predictions</a:t>
            </a:r>
            <a:endParaRPr lang="en-US" sz="1600" dirty="0"/>
          </a:p>
        </p:txBody>
      </p:sp>
      <p:sp>
        <p:nvSpPr>
          <p:cNvPr id="3" name="Text 1"/>
          <p:cNvSpPr/>
          <p:nvPr>
            <p:ph type="title"/>
          </p:nvPr>
        </p:nvSpPr>
        <p:spPr>
          <a:xfrm>
            <a:off x="812800" y="2320925"/>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111111"/>
                </a:solidFill>
                <a:latin typeface="Arial" pitchFamily="34" charset="0"/>
                <a:ea typeface="Arial" pitchFamily="34" charset="-122"/>
                <a:cs typeface="Arial" pitchFamily="34" charset="-120"/>
              </a:rPr>
              <a:t>Who will subscribe</a:t>
            </a:r>
            <a:endParaRPr lang="en-US" sz="6000" dirty="0"/>
          </a:p>
          <a:p>
            <a:pPr algn="l" indent="0" marL="0">
              <a:lnSpc>
                <a:spcPts val="6300"/>
              </a:lnSpc>
              <a:buNone/>
            </a:pPr>
            <a:r>
              <a:rPr lang="en-US" sz="6000" b="1" i="0" dirty="0">
                <a:solidFill>
                  <a:srgbClr val="111111"/>
                </a:solidFill>
                <a:latin typeface="Arial" pitchFamily="34" charset="0"/>
                <a:ea typeface="Arial" pitchFamily="34" charset="-122"/>
                <a:cs typeface="Arial" pitchFamily="34" charset="-120"/>
              </a:rPr>
              <a:t>to a term deposit?</a:t>
            </a:r>
            <a:endParaRPr lang="en-US" sz="6000" dirty="0"/>
          </a:p>
        </p:txBody>
      </p:sp>
      <p:sp>
        <p:nvSpPr>
          <p:cNvPr id="4" name="Text 2"/>
          <p:cNvSpPr/>
          <p:nvPr/>
        </p:nvSpPr>
        <p:spPr>
          <a:xfrm>
            <a:off x="812800" y="4175125"/>
            <a:ext cx="10883392" cy="38735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11111"/>
                </a:solidFill>
                <a:latin typeface="Arial" pitchFamily="34" charset="0"/>
                <a:ea typeface="Arial" pitchFamily="34" charset="-122"/>
                <a:cs typeface="Arial" pitchFamily="34" charset="-120"/>
              </a:rPr>
              <a:t>Predicting the outcome of a bank’s phone calls before they’re made</a:t>
            </a:r>
            <a:endParaRPr lang="en-US" sz="2200" dirty="0"/>
          </a:p>
        </p:txBody>
      </p:sp>
      <p:sp>
        <p:nvSpPr>
          <p:cNvPr id="5" name="Text 3"/>
          <p:cNvSpPr/>
          <p:nvPr/>
        </p:nvSpPr>
        <p:spPr>
          <a:xfrm>
            <a:off x="812800" y="479107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Tamim Wahage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problem</a:t>
            </a:r>
            <a:endParaRPr lang="en-US" sz="3600" dirty="0"/>
          </a:p>
        </p:txBody>
      </p:sp>
      <p:sp>
        <p:nvSpPr>
          <p:cNvPr id="3" name="Text 1"/>
          <p:cNvSpPr/>
          <p:nvPr/>
        </p:nvSpPr>
        <p:spPr>
          <a:xfrm>
            <a:off x="812800" y="1739900"/>
            <a:ext cx="11379200" cy="40005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11111"/>
                </a:solidFill>
                <a:latin typeface="Arial" pitchFamily="34" charset="0"/>
                <a:ea typeface="Arial" pitchFamily="34" charset="-122"/>
                <a:cs typeface="Arial" pitchFamily="34" charset="-120"/>
              </a:rPr>
              <a:t>A Portuguese bank calls clients to sell them a term deposit. Most calls end with a no.</a:t>
            </a:r>
            <a:endParaRPr lang="en-US" sz="2200" dirty="0"/>
          </a:p>
        </p:txBody>
      </p:sp>
      <p:sp>
        <p:nvSpPr>
          <p:cNvPr id="4" name="Text 2"/>
          <p:cNvSpPr/>
          <p:nvPr/>
        </p:nvSpPr>
        <p:spPr>
          <a:xfrm>
            <a:off x="812800" y="252095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What I predict:</a:t>
            </a:r>
            <a:r>
              <a:rPr lang="en-US" sz="1800" dirty="0">
                <a:solidFill>
                  <a:srgbClr val="111111"/>
                </a:solidFill>
                <a:latin typeface="Arial" pitchFamily="34" charset="0"/>
                <a:ea typeface="Arial" pitchFamily="34" charset="-122"/>
                <a:cs typeface="Arial" pitchFamily="34" charset="-120"/>
              </a:rPr>
              <a:t> will this client subscribe? (before the call)</a:t>
            </a:r>
            <a:endParaRPr lang="en-US" sz="1800" dirty="0"/>
          </a:p>
        </p:txBody>
      </p:sp>
      <p:sp>
        <p:nvSpPr>
          <p:cNvPr id="5" name="Text 3"/>
          <p:cNvSpPr/>
          <p:nvPr/>
        </p:nvSpPr>
        <p:spPr>
          <a:xfrm>
            <a:off x="812800" y="304165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For whom:</a:t>
            </a:r>
            <a:r>
              <a:rPr lang="en-US" sz="1800" dirty="0">
                <a:solidFill>
                  <a:srgbClr val="111111"/>
                </a:solidFill>
                <a:latin typeface="Arial" pitchFamily="34" charset="0"/>
                <a:ea typeface="Arial" pitchFamily="34" charset="-122"/>
                <a:cs typeface="Arial" pitchFamily="34" charset="-120"/>
              </a:rPr>
              <a:t> the marketing team planning the call list</a:t>
            </a:r>
            <a:endParaRPr lang="en-US" sz="1800" dirty="0"/>
          </a:p>
        </p:txBody>
      </p:sp>
      <p:sp>
        <p:nvSpPr>
          <p:cNvPr id="6" name="Text 4"/>
          <p:cNvSpPr/>
          <p:nvPr/>
        </p:nvSpPr>
        <p:spPr>
          <a:xfrm>
            <a:off x="812800" y="356235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What they do with it:</a:t>
            </a:r>
            <a:r>
              <a:rPr lang="en-US" sz="1800" dirty="0">
                <a:solidFill>
                  <a:srgbClr val="111111"/>
                </a:solidFill>
                <a:latin typeface="Arial" pitchFamily="34" charset="0"/>
                <a:ea typeface="Arial" pitchFamily="34" charset="-122"/>
                <a:cs typeface="Arial" pitchFamily="34" charset="-120"/>
              </a:rPr>
              <a:t> call the likely clients first, skip the ones who’ll almost surely say no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data</a:t>
            </a:r>
            <a:endParaRPr lang="en-US" sz="3600" dirty="0"/>
          </a:p>
        </p:txBody>
      </p:sp>
      <p:sp>
        <p:nvSpPr>
          <p:cNvPr id="3" name="Text 1"/>
          <p:cNvSpPr/>
          <p:nvPr/>
        </p:nvSpPr>
        <p:spPr>
          <a:xfrm>
            <a:off x="812800" y="1689100"/>
            <a:ext cx="10883392"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11111"/>
                </a:solidFill>
                <a:latin typeface="Arial" pitchFamily="34" charset="0"/>
                <a:ea typeface="Arial" pitchFamily="34" charset="-122"/>
                <a:cs typeface="Arial" pitchFamily="34" charset="-120"/>
              </a:rPr>
              <a:t>41,188 phone contacts, May 2008 – Nov 2010. One row = one call to one client: client info, earlier contacts, the economy at that time.</a:t>
            </a:r>
            <a:endParaRPr lang="en-US" sz="2000" dirty="0"/>
          </a:p>
        </p:txBody>
      </p:sp>
      <p:sp>
        <p:nvSpPr>
          <p:cNvPr id="4" name="Text 2"/>
          <p:cNvSpPr/>
          <p:nvPr/>
        </p:nvSpPr>
        <p:spPr>
          <a:xfrm>
            <a:off x="812800" y="2730500"/>
            <a:ext cx="108833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The traps I found</a:t>
            </a:r>
            <a:endParaRPr lang="en-US" sz="2000" dirty="0"/>
          </a:p>
        </p:txBody>
      </p:sp>
      <p:sp>
        <p:nvSpPr>
          <p:cNvPr id="5" name="Text 3"/>
          <p:cNvSpPr/>
          <p:nvPr/>
        </p:nvSpPr>
        <p:spPr>
          <a:xfrm>
            <a:off x="882396" y="3187700"/>
            <a:ext cx="10806176" cy="1270000"/>
          </a:xfrm>
          <a:prstGeom prst="rect">
            <a:avLst/>
          </a:prstGeom>
          <a:noFill/>
          <a:ln/>
        </p:spPr>
        <p:txBody>
          <a:bodyPr wrap="square" lIns="0" tIns="0" rIns="0" bIns="0" rtlCol="0" anchor="t">
            <a:normAutofit/>
          </a:bodyPr>
          <a:lstStyle/>
          <a:p>
            <a:pPr algn="l" marL="184404" indent="-184404">
              <a:lnSpc>
                <a:spcPts val="2465"/>
              </a:lnSpc>
              <a:buSzPct val="100000"/>
              <a:buChar char="•"/>
            </a:pPr>
            <a:r>
              <a:rPr lang="en-US" sz="1700" b="1" dirty="0">
                <a:solidFill>
                  <a:srgbClr val="111111"/>
                </a:solidFill>
                <a:latin typeface="Arial" pitchFamily="34" charset="0"/>
                <a:ea typeface="Arial" pitchFamily="34" charset="-122"/>
                <a:cs typeface="Arial" pitchFamily="34" charset="-120"/>
              </a:rPr>
              <a:t>duration</a:t>
            </a:r>
            <a:r>
              <a:rPr lang="en-US" sz="1700" dirty="0">
                <a:solidFill>
                  <a:srgbClr val="111111"/>
                </a:solidFill>
                <a:latin typeface="Arial" pitchFamily="34" charset="0"/>
                <a:ea typeface="Arial" pitchFamily="34" charset="-122"/>
                <a:cs typeface="Arial" pitchFamily="34" charset="-120"/>
              </a:rPr>
              <a:t> (call length) is only known after the call → dropped (leakage)</a:t>
            </a:r>
            <a:endParaRPr lang="en-US" sz="1700" dirty="0"/>
          </a:p>
          <a:p>
            <a:pPr algn="l" marL="184404" indent="-184404">
              <a:lnSpc>
                <a:spcPts val="2465"/>
              </a:lnSpc>
              <a:buSzPct val="100000"/>
              <a:buChar char="•"/>
            </a:pPr>
            <a:r>
              <a:rPr lang="en-US" sz="1700" dirty="0">
                <a:solidFill>
                  <a:srgbClr val="111111"/>
                </a:solidFill>
                <a:latin typeface="Arial" pitchFamily="34" charset="0"/>
                <a:ea typeface="Arial" pitchFamily="34" charset="-122"/>
                <a:cs typeface="Arial" pitchFamily="34" charset="-120"/>
              </a:rPr>
              <a:t>missing values hide as </a:t>
            </a:r>
            <a:r>
              <a:rPr lang="en-US" sz="1700" b="1" dirty="0">
                <a:solidFill>
                  <a:srgbClr val="111111"/>
                </a:solidFill>
                <a:latin typeface="Arial" pitchFamily="34" charset="0"/>
                <a:ea typeface="Arial" pitchFamily="34" charset="-122"/>
                <a:cs typeface="Arial" pitchFamily="34" charset="-120"/>
              </a:rPr>
              <a:t>“unknown”</a:t>
            </a:r>
            <a:r>
              <a:rPr lang="en-US" sz="1700" dirty="0">
                <a:solidFill>
                  <a:srgbClr val="111111"/>
                </a:solidFill>
                <a:latin typeface="Arial" pitchFamily="34" charset="0"/>
                <a:ea typeface="Arial" pitchFamily="34" charset="-122"/>
                <a:cs typeface="Arial" pitchFamily="34" charset="-120"/>
              </a:rPr>
              <a:t> and </a:t>
            </a:r>
            <a:r>
              <a:rPr lang="en-US" sz="1700" b="1" dirty="0">
                <a:solidFill>
                  <a:srgbClr val="111111"/>
                </a:solidFill>
                <a:latin typeface="Arial" pitchFamily="34" charset="0"/>
                <a:ea typeface="Arial" pitchFamily="34" charset="-122"/>
                <a:cs typeface="Arial" pitchFamily="34" charset="-120"/>
              </a:rPr>
              <a:t>pdays = 999</a:t>
            </a:r>
            <a:r>
              <a:rPr lang="en-US" sz="1700" dirty="0">
                <a:solidFill>
                  <a:srgbClr val="111111"/>
                </a:solidFill>
                <a:latin typeface="Arial" pitchFamily="34" charset="0"/>
                <a:ea typeface="Arial" pitchFamily="34" charset="-122"/>
                <a:cs typeface="Arial" pitchFamily="34" charset="-120"/>
              </a:rPr>
              <a:t> → kept as a category / replaced by a flag</a:t>
            </a:r>
            <a:endParaRPr lang="en-US" sz="1700" dirty="0"/>
          </a:p>
          <a:p>
            <a:pPr algn="l" marL="184404" indent="-184404">
              <a:lnSpc>
                <a:spcPts val="2465"/>
              </a:lnSpc>
              <a:buSzPct val="100000"/>
              <a:buChar char="•"/>
            </a:pPr>
            <a:r>
              <a:rPr lang="en-US" sz="1700" dirty="0">
                <a:solidFill>
                  <a:srgbClr val="111111"/>
                </a:solidFill>
                <a:latin typeface="Arial" pitchFamily="34" charset="0"/>
                <a:ea typeface="Arial" pitchFamily="34" charset="-122"/>
                <a:cs typeface="Arial" pitchFamily="34" charset="-120"/>
              </a:rPr>
              <a:t>12 exact duplicates → dropped</a:t>
            </a:r>
            <a:endParaRPr lang="en-US" sz="1700" dirty="0"/>
          </a:p>
          <a:p>
            <a:pPr algn="l" marL="184404" indent="-184404">
              <a:lnSpc>
                <a:spcPts val="2465"/>
              </a:lnSpc>
              <a:buSzPct val="100000"/>
              <a:buChar char="•"/>
            </a:pPr>
            <a:r>
              <a:rPr lang="en-US" sz="1700" dirty="0">
                <a:solidFill>
                  <a:srgbClr val="111111"/>
                </a:solidFill>
                <a:latin typeface="Arial" pitchFamily="34" charset="0"/>
                <a:ea typeface="Arial" pitchFamily="34" charset="-122"/>
                <a:cs typeface="Arial" pitchFamily="34" charset="-120"/>
              </a:rPr>
              <a:t>the file is sorted by date and the economy columns act like a hidden date</a:t>
            </a:r>
            <a:endParaRPr lang="en-US" sz="1700" dirty="0"/>
          </a:p>
        </p:txBody>
      </p:sp>
      <p:sp>
        <p:nvSpPr>
          <p:cNvPr id="6" name="Text 4"/>
          <p:cNvSpPr/>
          <p:nvPr/>
        </p:nvSpPr>
        <p:spPr>
          <a:xfrm>
            <a:off x="812800" y="6242050"/>
            <a:ext cx="10883392" cy="23495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55555"/>
                </a:solidFill>
                <a:latin typeface="Arial" pitchFamily="34" charset="0"/>
                <a:ea typeface="Arial" pitchFamily="34" charset="-122"/>
                <a:cs typeface="Arial" pitchFamily="34" charset="-120"/>
              </a:rPr>
              <a:t>Source: Moro, Rita &amp; Cortez (2014), Bank Marketing, UCI Machine Learning Repository, doi.org/10.24432/C5K306. Licence: CC BY 4.0.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metric and the baseline</a:t>
            </a:r>
            <a:endParaRPr lang="en-US" sz="3600" dirty="0"/>
          </a:p>
        </p:txBody>
      </p:sp>
      <p:sp>
        <p:nvSpPr>
          <p:cNvPr id="3" name="Text 1"/>
          <p:cNvSpPr/>
          <p:nvPr/>
        </p:nvSpPr>
        <p:spPr>
          <a:xfrm>
            <a:off x="812800" y="1689100"/>
            <a:ext cx="4800727"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Only </a:t>
            </a:r>
            <a:r>
              <a:rPr lang="en-US" sz="1800" b="1" dirty="0">
                <a:solidFill>
                  <a:srgbClr val="111111"/>
                </a:solidFill>
                <a:latin typeface="Arial" pitchFamily="34" charset="0"/>
                <a:ea typeface="Arial" pitchFamily="34" charset="-122"/>
                <a:cs typeface="Arial" pitchFamily="34" charset="-120"/>
              </a:rPr>
              <a:t>11.3%</a:t>
            </a:r>
            <a:r>
              <a:rPr lang="en-US" sz="1800" dirty="0">
                <a:solidFill>
                  <a:srgbClr val="111111"/>
                </a:solidFill>
                <a:latin typeface="Arial" pitchFamily="34" charset="0"/>
                <a:ea typeface="Arial" pitchFamily="34" charset="-122"/>
                <a:cs typeface="Arial" pitchFamily="34" charset="-120"/>
              </a:rPr>
              <a:t> say yes. Saying “no” to everyone is </a:t>
            </a:r>
            <a:r>
              <a:rPr lang="en-US" sz="1800" b="1" dirty="0">
                <a:solidFill>
                  <a:srgbClr val="111111"/>
                </a:solidFill>
                <a:latin typeface="Arial" pitchFamily="34" charset="0"/>
                <a:ea typeface="Arial" pitchFamily="34" charset="-122"/>
                <a:cs typeface="Arial" pitchFamily="34" charset="-120"/>
              </a:rPr>
              <a:t>88.7% accurate</a:t>
            </a:r>
            <a:r>
              <a:rPr lang="en-US" sz="1800" dirty="0">
                <a:solidFill>
                  <a:srgbClr val="111111"/>
                </a:solidFill>
                <a:latin typeface="Arial" pitchFamily="34" charset="0"/>
                <a:ea typeface="Arial" pitchFamily="34" charset="-122"/>
                <a:cs typeface="Arial" pitchFamily="34" charset="-120"/>
              </a:rPr>
              <a:t> and finds nobody.</a:t>
            </a:r>
            <a:endParaRPr lang="en-US" sz="1800" dirty="0"/>
          </a:p>
        </p:txBody>
      </p:sp>
      <p:sp>
        <p:nvSpPr>
          <p:cNvPr id="4" name="Text 2"/>
          <p:cNvSpPr/>
          <p:nvPr/>
        </p:nvSpPr>
        <p:spPr>
          <a:xfrm>
            <a:off x="812800" y="2476500"/>
            <a:ext cx="4800727"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A missed yes (lost sale) is worse than a wasted call.</a:t>
            </a:r>
            <a:endParaRPr lang="en-US" sz="1800" dirty="0"/>
          </a:p>
        </p:txBody>
      </p:sp>
      <p:sp>
        <p:nvSpPr>
          <p:cNvPr id="5" name="Text 3"/>
          <p:cNvSpPr/>
          <p:nvPr/>
        </p:nvSpPr>
        <p:spPr>
          <a:xfrm>
            <a:off x="812800" y="3263900"/>
            <a:ext cx="4800727"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So: </a:t>
            </a:r>
            <a:r>
              <a:rPr lang="en-US" sz="1800" b="1" dirty="0">
                <a:solidFill>
                  <a:srgbClr val="111111"/>
                </a:solidFill>
                <a:latin typeface="Arial" pitchFamily="34" charset="0"/>
                <a:ea typeface="Arial" pitchFamily="34" charset="-122"/>
                <a:cs typeface="Arial" pitchFamily="34" charset="-120"/>
              </a:rPr>
              <a:t>F1</a:t>
            </a:r>
            <a:r>
              <a:rPr lang="en-US" sz="1800" dirty="0">
                <a:solidFill>
                  <a:srgbClr val="111111"/>
                </a:solidFill>
                <a:latin typeface="Arial" pitchFamily="34" charset="0"/>
                <a:ea typeface="Arial" pitchFamily="34" charset="-122"/>
                <a:cs typeface="Arial" pitchFamily="34" charset="-120"/>
              </a:rPr>
              <a:t>, which is only high if the model finds the yes clients </a:t>
            </a:r>
            <a:r>
              <a:rPr lang="en-US" sz="1800" i="1" dirty="0">
                <a:solidFill>
                  <a:srgbClr val="111111"/>
                </a:solidFill>
                <a:latin typeface="Arial" pitchFamily="34" charset="0"/>
                <a:ea typeface="Arial" pitchFamily="34" charset="-122"/>
                <a:cs typeface="Arial" pitchFamily="34" charset="-120"/>
              </a:rPr>
              <a:t>and</a:t>
            </a:r>
            <a:r>
              <a:rPr lang="en-US" sz="1800" dirty="0">
                <a:solidFill>
                  <a:srgbClr val="111111"/>
                </a:solidFill>
                <a:latin typeface="Arial" pitchFamily="34" charset="0"/>
                <a:ea typeface="Arial" pitchFamily="34" charset="-122"/>
                <a:cs typeface="Arial" pitchFamily="34" charset="-120"/>
              </a:rPr>
              <a:t> is right when it calls.</a:t>
            </a:r>
            <a:endParaRPr lang="en-US" sz="1800" dirty="0"/>
          </a:p>
        </p:txBody>
      </p:sp>
      <p:sp>
        <p:nvSpPr>
          <p:cNvPr id="6" name="Shape 4"/>
          <p:cNvSpPr/>
          <p:nvPr/>
        </p:nvSpPr>
        <p:spPr>
          <a:xfrm>
            <a:off x="6089650" y="1695450"/>
            <a:ext cx="5283200" cy="2679700"/>
          </a:xfrm>
          <a:prstGeom prst="rect">
            <a:avLst/>
          </a:prstGeom>
          <a:noFill/>
          <a:ln w="12700">
            <a:solidFill>
              <a:srgbClr val="111111"/>
            </a:solidFill>
            <a:prstDash val="solid"/>
          </a:ln>
        </p:spPr>
      </p:sp>
      <p:sp>
        <p:nvSpPr>
          <p:cNvPr id="7" name="Text 5"/>
          <p:cNvSpPr/>
          <p:nvPr/>
        </p:nvSpPr>
        <p:spPr>
          <a:xfrm>
            <a:off x="6400800" y="2006600"/>
            <a:ext cx="4800727"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Baseline: call everyone</a:t>
            </a:r>
            <a:endParaRPr lang="en-US" sz="1600" dirty="0"/>
          </a:p>
        </p:txBody>
      </p:sp>
      <p:sp>
        <p:nvSpPr>
          <p:cNvPr id="8" name="Text 6"/>
          <p:cNvSpPr/>
          <p:nvPr/>
        </p:nvSpPr>
        <p:spPr>
          <a:xfrm>
            <a:off x="6400800" y="2387600"/>
            <a:ext cx="4800727" cy="1041400"/>
          </a:xfrm>
          <a:prstGeom prst="rect">
            <a:avLst/>
          </a:prstGeom>
          <a:noFill/>
          <a:ln/>
        </p:spPr>
        <p:txBody>
          <a:bodyPr wrap="square" lIns="0" tIns="0" rIns="0" bIns="0" rtlCol="0" anchor="t">
            <a:normAutofit/>
          </a:bodyPr>
          <a:lstStyle/>
          <a:p>
            <a:pPr algn="l" indent="0" marL="0">
              <a:lnSpc>
                <a:spcPts val="8000"/>
              </a:lnSpc>
              <a:buNone/>
            </a:pPr>
            <a:r>
              <a:rPr lang="en-US" sz="8000" b="1" dirty="0">
                <a:solidFill>
                  <a:srgbClr val="111111"/>
                </a:solidFill>
                <a:latin typeface="Arial" pitchFamily="34" charset="0"/>
                <a:ea typeface="Arial" pitchFamily="34" charset="-122"/>
                <a:cs typeface="Arial" pitchFamily="34" charset="-120"/>
              </a:rPr>
              <a:t>0.203</a:t>
            </a:r>
            <a:endParaRPr lang="en-US" sz="8000" dirty="0"/>
          </a:p>
        </p:txBody>
      </p:sp>
      <p:sp>
        <p:nvSpPr>
          <p:cNvPr id="9" name="Text 7"/>
          <p:cNvSpPr/>
          <p:nvPr/>
        </p:nvSpPr>
        <p:spPr>
          <a:xfrm>
            <a:off x="6400800" y="3505200"/>
            <a:ext cx="4800727" cy="5842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F1 to beat (finds every subscriber, but 89% of the calls are wasted)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What I tried</a:t>
            </a:r>
            <a:endParaRPr lang="en-US" sz="3600" dirty="0"/>
          </a:p>
        </p:txBody>
      </p:sp>
      <p:sp>
        <p:nvSpPr>
          <p:cNvPr id="3" name="Text 1"/>
          <p:cNvSpPr/>
          <p:nvPr/>
        </p:nvSpPr>
        <p:spPr>
          <a:xfrm>
            <a:off x="812800" y="1587500"/>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4 model families, same 5 folds, with and without class weights. Best of each: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133600"/>
          <a:ext cx="10553700" cy="2635448"/>
        </p:xfrm>
        <a:graphic>
          <a:graphicData uri="http://schemas.openxmlformats.org/drawingml/2006/table">
            <a:tbl>
              <a:tblPr/>
              <a:tblGrid>
                <a:gridCol w="5804535"/>
                <a:gridCol w="2638425"/>
                <a:gridCol w="2110740"/>
              </a:tblGrid>
              <a:tr h="439241">
                <a:tc>
                  <a:txBody>
                    <a:bodyPr/>
                    <a:lstStyle/>
                    <a:p>
                      <a:pPr indent="0" marL="0">
                        <a:lnSpc>
                          <a:spcPts val="2240"/>
                        </a:lnSpc>
                        <a:buNone/>
                      </a:pPr>
                      <a:r>
                        <a:rPr lang="en-US" sz="1600" b="1" dirty="0">
                          <a:solidFill>
                            <a:srgbClr val="111111"/>
                          </a:solidFill>
                          <a:latin typeface="Arial" pitchFamily="34" charset="0"/>
                          <a:ea typeface="Arial" pitchFamily="34" charset="-122"/>
                          <a:cs typeface="Arial" pitchFamily="34" charset="-120"/>
                        </a:rPr>
                        <a:t>Model</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F1 (mean ± spread)</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Recall</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Gradient boosting, balanced</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0.476 ± 0.010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63%</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Logistic regression, balanced</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0.451 ± 0.009</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62%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Random forest</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0.376 ± 0.003</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30%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Decision tree</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0.335 ± 0.011</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34%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Baseline: call everyone</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0.203</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100%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5023048"/>
            <a:ext cx="10883392" cy="5842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Tuning (grid / random search) didn’t beat the default settings. New features: only small changes, kept the simple ones.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Imbalance and the threshold</a:t>
            </a:r>
            <a:endParaRPr lang="en-US" sz="3600" dirty="0"/>
          </a:p>
        </p:txBody>
      </p:sp>
      <p:sp>
        <p:nvSpPr>
          <p:cNvPr id="3" name="Text 1"/>
          <p:cNvSpPr/>
          <p:nvPr/>
        </p:nvSpPr>
        <p:spPr>
          <a:xfrm>
            <a:off x="812800" y="1638300"/>
            <a:ext cx="10883392" cy="3429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Three ways to handle the 11% yes, gradient boosting, cross-validated F1:</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273300"/>
          <a:ext cx="10553700" cy="1970484"/>
        </p:xfrm>
        <a:graphic>
          <a:graphicData uri="http://schemas.openxmlformats.org/drawingml/2006/table">
            <a:tbl>
              <a:tblPr/>
              <a:tblGrid>
                <a:gridCol w="4221480"/>
                <a:gridCol w="3166110"/>
                <a:gridCol w="3166110"/>
              </a:tblGrid>
              <a:tr h="492621">
                <a:tc>
                  <a:txBody>
                    <a:bodyPr/>
                    <a:lstStyle/>
                    <a:p>
                      <a:pPr indent="0" marL="0">
                        <a:lnSpc>
                          <a:spcPts val="2520"/>
                        </a:lnSpc>
                        <a:buNone/>
                      </a:pPr>
                      <a:r>
                        <a:rPr lang="en-US" sz="1800" b="1" dirty="0">
                          <a:solidFill>
                            <a:srgbClr val="111111"/>
                          </a:solidFill>
                          <a:latin typeface="Arial" pitchFamily="34" charset="0"/>
                          <a:ea typeface="Arial" pitchFamily="34" charset="-122"/>
                          <a:cs typeface="Arial" pitchFamily="34" charset="-120"/>
                        </a:rPr>
                        <a:t>Method</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520"/>
                        </a:lnSpc>
                        <a:buNone/>
                      </a:pPr>
                      <a:r>
                        <a:rPr lang="en-US" sz="1800" b="1" dirty="0">
                          <a:solidFill>
                            <a:srgbClr val="111111"/>
                          </a:solidFill>
                          <a:latin typeface="Arial" pitchFamily="34" charset="0"/>
                          <a:ea typeface="Arial" pitchFamily="34" charset="-122"/>
                          <a:cs typeface="Arial" pitchFamily="34" charset="-120"/>
                        </a:rPr>
                        <a:t>at threshold 0.5</a:t>
                      </a:r>
                      <a:endParaRPr lang="en-US" sz="1800" dirty="0">
                        <a:latin typeface="Arial" charset="0"/>
                        <a:ea typeface="Arial" charset="0"/>
                        <a:cs typeface="Arial" charset="0"/>
                      </a:endParaRPr>
                    </a:p>
                  </a:txBody>
                  <a:tcPr marL="80010" marR="80010" marT="80010" marB="8001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520"/>
                        </a:lnSpc>
                        <a:buNone/>
                      </a:pPr>
                      <a:r>
                        <a:rPr lang="en-US" sz="1800" b="1" dirty="0">
                          <a:solidFill>
                            <a:srgbClr val="111111"/>
                          </a:solidFill>
                          <a:latin typeface="Arial" pitchFamily="34" charset="0"/>
                          <a:ea typeface="Arial" pitchFamily="34" charset="-122"/>
                          <a:cs typeface="Arial" pitchFamily="34" charset="-120"/>
                        </a:rPr>
                        <a:t>at its best threshold</a:t>
                      </a:r>
                      <a:endParaRPr lang="en-US" sz="1800" dirty="0">
                        <a:latin typeface="Arial" charset="0"/>
                        <a:ea typeface="Arial" charset="0"/>
                        <a:cs typeface="Arial" charset="0"/>
                      </a:endParaRPr>
                    </a:p>
                  </a:txBody>
                  <a:tcPr marL="80010" marR="80010" marT="80010" marB="8001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92621">
                <a:tc>
                  <a:txBody>
                    <a:bodyPr/>
                    <a:lstStyle/>
                    <a:p>
                      <a:pPr indent="0" marL="0">
                        <a:lnSpc>
                          <a:spcPts val="2520"/>
                        </a:lnSpc>
                        <a:buNone/>
                      </a:pPr>
                      <a:r>
                        <a:rPr lang="en-US" sz="1800" dirty="0">
                          <a:solidFill>
                            <a:srgbClr val="111111"/>
                          </a:solidFill>
                          <a:latin typeface="Arial" pitchFamily="34" charset="0"/>
                          <a:ea typeface="Arial" pitchFamily="34" charset="-122"/>
                          <a:cs typeface="Arial" pitchFamily="34" charset="-120"/>
                        </a:rPr>
                        <a:t>No handling</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800" dirty="0">
                          <a:solidFill>
                            <a:srgbClr val="111111"/>
                          </a:solidFill>
                          <a:latin typeface="Arial" pitchFamily="34" charset="0"/>
                          <a:ea typeface="Arial" pitchFamily="34" charset="-122"/>
                          <a:cs typeface="Arial" pitchFamily="34" charset="-120"/>
                        </a:rPr>
                        <a:t>0.365</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800" dirty="0">
                          <a:solidFill>
                            <a:srgbClr val="111111"/>
                          </a:solidFill>
                          <a:latin typeface="Arial" pitchFamily="34" charset="0"/>
                          <a:ea typeface="Arial" pitchFamily="34" charset="-122"/>
                          <a:cs typeface="Arial" pitchFamily="34" charset="-120"/>
                        </a:rPr>
                        <a:t>0.497</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92621">
                <a:tc>
                  <a:txBody>
                    <a:bodyPr/>
                    <a:lstStyle/>
                    <a:p>
                      <a:pPr indent="0" marL="0">
                        <a:lnSpc>
                          <a:spcPts val="2520"/>
                        </a:lnSpc>
                        <a:buNone/>
                      </a:pPr>
                      <a:r>
                        <a:rPr lang="en-US" sz="1800" dirty="0">
                          <a:solidFill>
                            <a:srgbClr val="111111"/>
                          </a:solidFill>
                          <a:latin typeface="Arial" pitchFamily="34" charset="0"/>
                          <a:ea typeface="Arial" pitchFamily="34" charset="-122"/>
                          <a:cs typeface="Arial" pitchFamily="34" charset="-120"/>
                        </a:rPr>
                        <a:t>Class weights</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800" dirty="0">
                          <a:solidFill>
                            <a:srgbClr val="111111"/>
                          </a:solidFill>
                          <a:latin typeface="Arial" pitchFamily="34" charset="0"/>
                          <a:ea typeface="Arial" pitchFamily="34" charset="-122"/>
                          <a:cs typeface="Arial" pitchFamily="34" charset="-120"/>
                        </a:rPr>
                        <a:t>0.475</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800" dirty="0">
                          <a:solidFill>
                            <a:srgbClr val="111111"/>
                          </a:solidFill>
                          <a:latin typeface="Arial" pitchFamily="34" charset="0"/>
                          <a:ea typeface="Arial" pitchFamily="34" charset="-122"/>
                          <a:cs typeface="Arial" pitchFamily="34" charset="-120"/>
                        </a:rPr>
                        <a:t>0.499</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92621">
                <a:tc>
                  <a:txBody>
                    <a:bodyPr/>
                    <a:lstStyle/>
                    <a:p>
                      <a:pPr indent="0" marL="0">
                        <a:lnSpc>
                          <a:spcPts val="2520"/>
                        </a:lnSpc>
                        <a:buNone/>
                      </a:pPr>
                      <a:r>
                        <a:rPr lang="en-US" sz="1800" dirty="0">
                          <a:solidFill>
                            <a:srgbClr val="111111"/>
                          </a:solidFill>
                          <a:latin typeface="Arial" pitchFamily="34" charset="0"/>
                          <a:ea typeface="Arial" pitchFamily="34" charset="-122"/>
                          <a:cs typeface="Arial" pitchFamily="34" charset="-120"/>
                        </a:rPr>
                        <a:t>SMOTE</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800" dirty="0">
                          <a:solidFill>
                            <a:srgbClr val="111111"/>
                          </a:solidFill>
                          <a:latin typeface="Arial" pitchFamily="34" charset="0"/>
                          <a:ea typeface="Arial" pitchFamily="34" charset="-122"/>
                          <a:cs typeface="Arial" pitchFamily="34" charset="-120"/>
                        </a:rPr>
                        <a:t>0.426</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520"/>
                        </a:lnSpc>
                        <a:buNone/>
                      </a:pPr>
                      <a:r>
                        <a:rPr lang="en-US" sz="1800" dirty="0">
                          <a:solidFill>
                            <a:srgbClr val="111111"/>
                          </a:solidFill>
                          <a:latin typeface="Arial" pitchFamily="34" charset="0"/>
                          <a:ea typeface="Arial" pitchFamily="34" charset="-122"/>
                          <a:cs typeface="Arial" pitchFamily="34" charset="-120"/>
                        </a:rPr>
                        <a:t>0.494</a:t>
                      </a:r>
                      <a:endParaRPr lang="en-US" sz="1800" dirty="0">
                        <a:latin typeface="Arial" charset="0"/>
                        <a:ea typeface="Arial" charset="0"/>
                        <a:cs typeface="Arial" charset="0"/>
                      </a:endParaRPr>
                    </a:p>
                  </a:txBody>
                  <a:tcPr marL="80010" marR="80010" marT="80010" marB="8001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548584"/>
            <a:ext cx="10883392"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What really matters is </a:t>
            </a:r>
            <a:r>
              <a:rPr lang="en-US" sz="1800" b="1" dirty="0">
                <a:solidFill>
                  <a:srgbClr val="111111"/>
                </a:solidFill>
                <a:latin typeface="Arial" pitchFamily="34" charset="0"/>
                <a:ea typeface="Arial" pitchFamily="34" charset="-122"/>
                <a:cs typeface="Arial" pitchFamily="34" charset="-120"/>
              </a:rPr>
              <a:t>not leaving the threshold at 0.5</a:t>
            </a:r>
            <a:r>
              <a:rPr lang="en-US" sz="1800" dirty="0">
                <a:solidFill>
                  <a:srgbClr val="111111"/>
                </a:solidFill>
                <a:latin typeface="Arial" pitchFamily="34" charset="0"/>
                <a:ea typeface="Arial" pitchFamily="34" charset="-122"/>
                <a:cs typeface="Arial" pitchFamily="34" charset="-120"/>
              </a:rPr>
              <a:t>. I picked </a:t>
            </a:r>
            <a:r>
              <a:rPr lang="en-US" sz="1800" b="1" dirty="0">
                <a:solidFill>
                  <a:srgbClr val="111111"/>
                </a:solidFill>
                <a:latin typeface="Arial" pitchFamily="34" charset="0"/>
                <a:ea typeface="Arial" pitchFamily="34" charset="-122"/>
                <a:cs typeface="Arial" pitchFamily="34" charset="-120"/>
              </a:rPr>
              <a:t>0.60</a:t>
            </a:r>
            <a:r>
              <a:rPr lang="en-US" sz="1800" dirty="0">
                <a:solidFill>
                  <a:srgbClr val="111111"/>
                </a:solidFill>
                <a:latin typeface="Arial" pitchFamily="34" charset="0"/>
                <a:ea typeface="Arial" pitchFamily="34" charset="-122"/>
                <a:cs typeface="Arial" pitchFamily="34" charset="-120"/>
              </a:rPr>
              <a:t>: the lowest threshold within the fold spread of the best F1, because a missed yes costs more than a wasted call.</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The final model on the test set</a:t>
            </a:r>
            <a:endParaRPr lang="en-US" sz="3600" dirty="0"/>
          </a:p>
        </p:txBody>
      </p:sp>
      <p:sp>
        <p:nvSpPr>
          <p:cNvPr id="3" name="Shape 1"/>
          <p:cNvSpPr/>
          <p:nvPr/>
        </p:nvSpPr>
        <p:spPr>
          <a:xfrm>
            <a:off x="819150" y="1746250"/>
            <a:ext cx="3306266" cy="2197100"/>
          </a:xfrm>
          <a:prstGeom prst="rect">
            <a:avLst/>
          </a:prstGeom>
          <a:noFill/>
          <a:ln w="12700">
            <a:solidFill>
              <a:srgbClr val="111111"/>
            </a:solidFill>
            <a:prstDash val="solid"/>
          </a:ln>
        </p:spPr>
      </p:sp>
      <p:sp>
        <p:nvSpPr>
          <p:cNvPr id="4" name="Text 2"/>
          <p:cNvSpPr/>
          <p:nvPr/>
        </p:nvSpPr>
        <p:spPr>
          <a:xfrm>
            <a:off x="1130300" y="20574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Test set (used once)</a:t>
            </a:r>
            <a:endParaRPr lang="en-US" sz="1600" dirty="0"/>
          </a:p>
        </p:txBody>
      </p:sp>
      <p:sp>
        <p:nvSpPr>
          <p:cNvPr id="5" name="Text 3"/>
          <p:cNvSpPr/>
          <p:nvPr/>
        </p:nvSpPr>
        <p:spPr>
          <a:xfrm>
            <a:off x="1130300" y="2438400"/>
            <a:ext cx="2764485" cy="838200"/>
          </a:xfrm>
          <a:prstGeom prst="rect">
            <a:avLst/>
          </a:prstGeom>
          <a:noFill/>
          <a:ln/>
        </p:spPr>
        <p:txBody>
          <a:bodyPr wrap="square" lIns="0" tIns="0" rIns="0" bIns="0" rtlCol="0" anchor="t">
            <a:normAutofit/>
          </a:bodyPr>
          <a:lstStyle/>
          <a:p>
            <a:pPr algn="l" indent="0" marL="0">
              <a:lnSpc>
                <a:spcPts val="6400"/>
              </a:lnSpc>
              <a:buNone/>
            </a:pPr>
            <a:r>
              <a:rPr lang="en-US" sz="6400" b="1" dirty="0">
                <a:solidFill>
                  <a:srgbClr val="111111"/>
                </a:solidFill>
                <a:latin typeface="Arial" pitchFamily="34" charset="0"/>
                <a:ea typeface="Arial" pitchFamily="34" charset="-122"/>
                <a:cs typeface="Arial" pitchFamily="34" charset="-120"/>
              </a:rPr>
              <a:t>0.519</a:t>
            </a:r>
            <a:endParaRPr lang="en-US" sz="6400" dirty="0"/>
          </a:p>
        </p:txBody>
      </p:sp>
      <p:sp>
        <p:nvSpPr>
          <p:cNvPr id="6" name="Text 4"/>
          <p:cNvSpPr/>
          <p:nvPr/>
        </p:nvSpPr>
        <p:spPr>
          <a:xfrm>
            <a:off x="1130300" y="33528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F1</a:t>
            </a:r>
            <a:endParaRPr lang="en-US" sz="1600" dirty="0"/>
          </a:p>
        </p:txBody>
      </p:sp>
      <p:sp>
        <p:nvSpPr>
          <p:cNvPr id="7" name="Shape 5"/>
          <p:cNvSpPr/>
          <p:nvPr/>
        </p:nvSpPr>
        <p:spPr>
          <a:xfrm>
            <a:off x="4442916" y="1746250"/>
            <a:ext cx="3306266" cy="2197100"/>
          </a:xfrm>
          <a:prstGeom prst="rect">
            <a:avLst/>
          </a:prstGeom>
          <a:noFill/>
          <a:ln w="12700">
            <a:solidFill>
              <a:srgbClr val="BBBBBB"/>
            </a:solidFill>
            <a:prstDash val="solid"/>
          </a:ln>
        </p:spPr>
      </p:sp>
      <p:sp>
        <p:nvSpPr>
          <p:cNvPr id="8" name="Text 6"/>
          <p:cNvSpPr/>
          <p:nvPr/>
        </p:nvSpPr>
        <p:spPr>
          <a:xfrm>
            <a:off x="4754066" y="20574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Cross-validation</a:t>
            </a:r>
            <a:endParaRPr lang="en-US" sz="1600" dirty="0"/>
          </a:p>
        </p:txBody>
      </p:sp>
      <p:sp>
        <p:nvSpPr>
          <p:cNvPr id="9" name="Text 7"/>
          <p:cNvSpPr/>
          <p:nvPr/>
        </p:nvSpPr>
        <p:spPr>
          <a:xfrm>
            <a:off x="4754066" y="2438400"/>
            <a:ext cx="2764485" cy="838200"/>
          </a:xfrm>
          <a:prstGeom prst="rect">
            <a:avLst/>
          </a:prstGeom>
          <a:noFill/>
          <a:ln/>
        </p:spPr>
        <p:txBody>
          <a:bodyPr wrap="square" lIns="0" tIns="0" rIns="0" bIns="0" rtlCol="0" anchor="t">
            <a:normAutofit/>
          </a:bodyPr>
          <a:lstStyle/>
          <a:p>
            <a:pPr algn="l" indent="0" marL="0">
              <a:lnSpc>
                <a:spcPts val="6400"/>
              </a:lnSpc>
              <a:buNone/>
            </a:pPr>
            <a:r>
              <a:rPr lang="en-US" sz="6400" b="1" dirty="0">
                <a:solidFill>
                  <a:srgbClr val="111111"/>
                </a:solidFill>
                <a:latin typeface="Arial" pitchFamily="34" charset="0"/>
                <a:ea typeface="Arial" pitchFamily="34" charset="-122"/>
                <a:cs typeface="Arial" pitchFamily="34" charset="-120"/>
              </a:rPr>
              <a:t>0.496</a:t>
            </a:r>
            <a:endParaRPr lang="en-US" sz="6400" dirty="0"/>
          </a:p>
        </p:txBody>
      </p:sp>
      <p:sp>
        <p:nvSpPr>
          <p:cNvPr id="10" name="Text 8"/>
          <p:cNvSpPr/>
          <p:nvPr/>
        </p:nvSpPr>
        <p:spPr>
          <a:xfrm>
            <a:off x="4754066" y="33528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 0.012 across folds</a:t>
            </a:r>
            <a:endParaRPr lang="en-US" sz="1600" dirty="0"/>
          </a:p>
        </p:txBody>
      </p:sp>
      <p:sp>
        <p:nvSpPr>
          <p:cNvPr id="11" name="Shape 9"/>
          <p:cNvSpPr/>
          <p:nvPr/>
        </p:nvSpPr>
        <p:spPr>
          <a:xfrm>
            <a:off x="8066683" y="1746250"/>
            <a:ext cx="3306266" cy="2197100"/>
          </a:xfrm>
          <a:prstGeom prst="rect">
            <a:avLst/>
          </a:prstGeom>
          <a:noFill/>
          <a:ln w="12700">
            <a:solidFill>
              <a:srgbClr val="BBBBBB"/>
            </a:solidFill>
            <a:prstDash val="solid"/>
          </a:ln>
        </p:spPr>
      </p:sp>
      <p:sp>
        <p:nvSpPr>
          <p:cNvPr id="12" name="Text 10"/>
          <p:cNvSpPr/>
          <p:nvPr/>
        </p:nvSpPr>
        <p:spPr>
          <a:xfrm>
            <a:off x="8377833" y="20574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Baseline (call everyone)</a:t>
            </a:r>
            <a:endParaRPr lang="en-US" sz="1600" dirty="0"/>
          </a:p>
        </p:txBody>
      </p:sp>
      <p:sp>
        <p:nvSpPr>
          <p:cNvPr id="13" name="Text 11"/>
          <p:cNvSpPr/>
          <p:nvPr/>
        </p:nvSpPr>
        <p:spPr>
          <a:xfrm>
            <a:off x="8377833" y="2438400"/>
            <a:ext cx="2764485" cy="838200"/>
          </a:xfrm>
          <a:prstGeom prst="rect">
            <a:avLst/>
          </a:prstGeom>
          <a:noFill/>
          <a:ln/>
        </p:spPr>
        <p:txBody>
          <a:bodyPr wrap="square" lIns="0" tIns="0" rIns="0" bIns="0" rtlCol="0" anchor="t">
            <a:normAutofit/>
          </a:bodyPr>
          <a:lstStyle/>
          <a:p>
            <a:pPr algn="l" indent="0" marL="0">
              <a:lnSpc>
                <a:spcPts val="6400"/>
              </a:lnSpc>
              <a:buNone/>
            </a:pPr>
            <a:r>
              <a:rPr lang="en-US" sz="6400" b="1" dirty="0">
                <a:solidFill>
                  <a:srgbClr val="111111"/>
                </a:solidFill>
                <a:latin typeface="Arial" pitchFamily="34" charset="0"/>
                <a:ea typeface="Arial" pitchFamily="34" charset="-122"/>
                <a:cs typeface="Arial" pitchFamily="34" charset="-120"/>
              </a:rPr>
              <a:t>0.203</a:t>
            </a:r>
            <a:endParaRPr lang="en-US" sz="6400" dirty="0"/>
          </a:p>
        </p:txBody>
      </p:sp>
      <p:sp>
        <p:nvSpPr>
          <p:cNvPr id="14" name="Text 12"/>
          <p:cNvSpPr/>
          <p:nvPr/>
        </p:nvSpPr>
        <p:spPr>
          <a:xfrm>
            <a:off x="8377833" y="3352800"/>
            <a:ext cx="2764485"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11111"/>
                </a:solidFill>
                <a:latin typeface="Arial" pitchFamily="34" charset="0"/>
                <a:ea typeface="Arial" pitchFamily="34" charset="-122"/>
                <a:cs typeface="Arial" pitchFamily="34" charset="-120"/>
              </a:rPr>
              <a:t>F1</a:t>
            </a:r>
            <a:endParaRPr lang="en-US" sz="1600" dirty="0"/>
          </a:p>
        </p:txBody>
      </p:sp>
      <p:sp>
        <p:nvSpPr>
          <p:cNvPr id="15" name="Text 13"/>
          <p:cNvSpPr/>
          <p:nvPr/>
        </p:nvSpPr>
        <p:spPr>
          <a:xfrm>
            <a:off x="812800" y="4356100"/>
            <a:ext cx="10883392" cy="77470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111111"/>
                </a:solidFill>
                <a:latin typeface="Arial" pitchFamily="34" charset="0"/>
                <a:ea typeface="Arial" pitchFamily="34" charset="-122"/>
                <a:cs typeface="Arial" pitchFamily="34" charset="-120"/>
              </a:rPr>
              <a:t>With </a:t>
            </a:r>
            <a:r>
              <a:rPr lang="en-US" sz="2200" b="1" dirty="0">
                <a:solidFill>
                  <a:srgbClr val="111111"/>
                </a:solidFill>
                <a:latin typeface="Arial" pitchFamily="34" charset="0"/>
                <a:ea typeface="Arial" pitchFamily="34" charset="-122"/>
                <a:cs typeface="Arial" pitchFamily="34" charset="-120"/>
              </a:rPr>
              <a:t>15% of the calls</a:t>
            </a:r>
            <a:r>
              <a:rPr lang="en-US" sz="2200" dirty="0">
                <a:solidFill>
                  <a:srgbClr val="111111"/>
                </a:solidFill>
                <a:latin typeface="Arial" pitchFamily="34" charset="0"/>
                <a:ea typeface="Arial" pitchFamily="34" charset="-122"/>
                <a:cs typeface="Arial" pitchFamily="34" charset="-120"/>
              </a:rPr>
              <a:t> the model reaches </a:t>
            </a:r>
            <a:r>
              <a:rPr lang="en-US" sz="2200" b="1" dirty="0">
                <a:solidFill>
                  <a:srgbClr val="111111"/>
                </a:solidFill>
                <a:latin typeface="Arial" pitchFamily="34" charset="0"/>
                <a:ea typeface="Arial" pitchFamily="34" charset="-122"/>
                <a:cs typeface="Arial" pitchFamily="34" charset="-120"/>
              </a:rPr>
              <a:t>61% of the subscribers</a:t>
            </a:r>
            <a:r>
              <a:rPr lang="en-US" sz="2200" dirty="0">
                <a:solidFill>
                  <a:srgbClr val="111111"/>
                </a:solidFill>
                <a:latin typeface="Arial" pitchFamily="34" charset="0"/>
                <a:ea typeface="Arial" pitchFamily="34" charset="-122"/>
                <a:cs typeface="Arial" pitchFamily="34" charset="-120"/>
              </a:rPr>
              <a:t>. Calling everyone: 100% of the calls, and 89% of them are wasted.</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Where it goes wrong</a:t>
            </a:r>
            <a:endParaRPr lang="en-US" sz="3600" dirty="0"/>
          </a:p>
        </p:txBody>
      </p:sp>
      <p:sp>
        <p:nvSpPr>
          <p:cNvPr id="3" name="Text 1"/>
          <p:cNvSpPr/>
          <p:nvPr/>
        </p:nvSpPr>
        <p:spPr>
          <a:xfrm>
            <a:off x="812800" y="16383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The model mostly recognises </a:t>
            </a:r>
            <a:r>
              <a:rPr lang="en-US" sz="1800" b="1" dirty="0">
                <a:solidFill>
                  <a:srgbClr val="111111"/>
                </a:solidFill>
                <a:latin typeface="Arial" pitchFamily="34" charset="0"/>
                <a:ea typeface="Arial" pitchFamily="34" charset="-122"/>
                <a:cs typeface="Arial" pitchFamily="34" charset="-120"/>
              </a:rPr>
              <a:t>the time period</a:t>
            </a:r>
            <a:r>
              <a:rPr lang="en-US" sz="1800" dirty="0">
                <a:solidFill>
                  <a:srgbClr val="111111"/>
                </a:solidFill>
                <a:latin typeface="Arial" pitchFamily="34" charset="0"/>
                <a:ea typeface="Arial" pitchFamily="34" charset="-122"/>
                <a:cs typeface="Arial" pitchFamily="34" charset="-120"/>
              </a:rPr>
              <a:t>, not the client. Test set, grouped by the economy at the time of the call:</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90800"/>
          <a:ext cx="10553700" cy="1756966"/>
        </p:xfrm>
        <a:graphic>
          <a:graphicData uri="http://schemas.openxmlformats.org/drawingml/2006/table">
            <a:tbl>
              <a:tblPr/>
              <a:tblGrid>
                <a:gridCol w="4221480"/>
                <a:gridCol w="1583055"/>
                <a:gridCol w="1583055"/>
                <a:gridCol w="1583055"/>
                <a:gridCol w="1583055"/>
              </a:tblGrid>
              <a:tr h="439241">
                <a:tc>
                  <a:txBody>
                    <a:bodyPr/>
                    <a:lstStyle/>
                    <a:p>
                      <a:pPr indent="0" marL="0">
                        <a:lnSpc>
                          <a:spcPts val="2240"/>
                        </a:lnSpc>
                        <a:buNone/>
                      </a:pPr>
                      <a:r>
                        <a:rPr lang="en-US" sz="1600" b="1" dirty="0">
                          <a:solidFill>
                            <a:srgbClr val="111111"/>
                          </a:solidFill>
                          <a:latin typeface="Arial" pitchFamily="34" charset="0"/>
                          <a:ea typeface="Arial" pitchFamily="34" charset="-122"/>
                          <a:cs typeface="Arial" pitchFamily="34" charset="-120"/>
                        </a:rPr>
                        <a:t>Period (nr.employed)</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Clients</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Said yes</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Called</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Found</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Worse economy (≤ 5076)</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975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46%</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96%</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98%</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Middle (5099)</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1,695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17%</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50%</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Better economy (5191–5228)</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5,564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4.5%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4%</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652566"/>
            <a:ext cx="10883392" cy="3429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Also weak: landline clients (finds 33%) and clients never contacted before (finds 48%).</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What drives it</a:t>
            </a:r>
            <a:endParaRPr lang="en-US" sz="3600" dirty="0"/>
          </a:p>
        </p:txBody>
      </p:sp>
      <p:sp>
        <p:nvSpPr>
          <p:cNvPr id="3" name="Text 1"/>
          <p:cNvSpPr/>
          <p:nvPr/>
        </p:nvSpPr>
        <p:spPr>
          <a:xfrm>
            <a:off x="812800" y="1689100"/>
            <a:ext cx="558800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Permutation importance (drop in test F1)</a:t>
            </a:r>
            <a:endParaRPr lang="en-US" sz="2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159000"/>
          <a:ext cx="4965700" cy="2635448"/>
        </p:xfrm>
        <a:graphic>
          <a:graphicData uri="http://schemas.openxmlformats.org/drawingml/2006/table">
            <a:tbl>
              <a:tblPr/>
              <a:tblGrid>
                <a:gridCol w="3227705"/>
                <a:gridCol w="1737995"/>
              </a:tblGrid>
              <a:tr h="439241">
                <a:tc>
                  <a:txBody>
                    <a:bodyPr/>
                    <a:lstStyle/>
                    <a:p>
                      <a:pPr indent="0" marL="0">
                        <a:lnSpc>
                          <a:spcPts val="2240"/>
                        </a:lnSpc>
                        <a:buNone/>
                      </a:pPr>
                      <a:r>
                        <a:rPr lang="en-US" sz="1600" b="1" dirty="0">
                          <a:solidFill>
                            <a:srgbClr val="111111"/>
                          </a:solidFill>
                          <a:latin typeface="Arial" pitchFamily="34" charset="0"/>
                          <a:ea typeface="Arial" pitchFamily="34" charset="-122"/>
                          <a:cs typeface="Arial" pitchFamily="34" charset="-120"/>
                        </a:rPr>
                        <a:t>Column</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240"/>
                        </a:lnSpc>
                        <a:buNone/>
                      </a:pPr>
                      <a:r>
                        <a:rPr lang="en-US" sz="1600" b="1" dirty="0">
                          <a:solidFill>
                            <a:srgbClr val="111111"/>
                          </a:solidFill>
                          <a:latin typeface="Arial" pitchFamily="34" charset="0"/>
                          <a:ea typeface="Arial" pitchFamily="34" charset="-122"/>
                          <a:cs typeface="Arial" pitchFamily="34" charset="-120"/>
                        </a:rPr>
                        <a:t>Drop</a:t>
                      </a:r>
                      <a:endParaRPr lang="en-US" sz="1600" dirty="0">
                        <a:latin typeface="Arial" charset="0"/>
                        <a:ea typeface="Arial" charset="0"/>
                        <a:cs typeface="Arial" charset="0"/>
                      </a:endParaRPr>
                    </a:p>
                  </a:txBody>
                  <a:tcPr marL="71120" marR="71120" marT="71120" marB="7112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nr.employed (economy)</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0.23</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cons.conf.idx (economy)</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0.05</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poutcome (last campaign)</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euribor3m (economy)</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39241">
                <a:tc>
                  <a:txBody>
                    <a:bodyPr/>
                    <a:lstStyle/>
                    <a:p>
                      <a:pPr indent="0" marL="0">
                        <a:lnSpc>
                          <a:spcPts val="2240"/>
                        </a:lnSpc>
                        <a:buNone/>
                      </a:pPr>
                      <a:r>
                        <a:rPr lang="en-US" sz="1600" dirty="0">
                          <a:solidFill>
                            <a:srgbClr val="111111"/>
                          </a:solidFill>
                          <a:latin typeface="Arial" pitchFamily="34" charset="0"/>
                          <a:ea typeface="Arial" pitchFamily="34" charset="-122"/>
                          <a:cs typeface="Arial" pitchFamily="34" charset="-120"/>
                        </a:rPr>
                        <a:t>month</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240"/>
                        </a:lnSpc>
                        <a:buNone/>
                      </a:pPr>
                      <a:r>
                        <a:rPr lang="en-US" sz="1600" dirty="0">
                          <a:solidFill>
                            <a:srgbClr val="111111"/>
                          </a:solidFill>
                          <a:latin typeface="Arial" pitchFamily="34" charset="0"/>
                          <a:ea typeface="Arial" pitchFamily="34" charset="-122"/>
                          <a:cs typeface="Arial" pitchFamily="34" charset="-120"/>
                        </a:rPr>
                        <a:t>0.02</a:t>
                      </a:r>
                      <a:endParaRPr lang="en-US" sz="1600" dirty="0">
                        <a:latin typeface="Arial" charset="0"/>
                        <a:ea typeface="Arial" charset="0"/>
                        <a:cs typeface="Arial" charset="0"/>
                      </a:endParaRPr>
                    </a:p>
                  </a:txBody>
                  <a:tcPr marL="71120" marR="71120" marT="71120" marB="7112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6400800" y="1689100"/>
            <a:ext cx="512775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For the bank</a:t>
            </a:r>
            <a:endParaRPr lang="en-US" sz="2000" dirty="0"/>
          </a:p>
        </p:txBody>
      </p:sp>
      <p:sp>
        <p:nvSpPr>
          <p:cNvPr id="6" name="Text 3"/>
          <p:cNvSpPr/>
          <p:nvPr/>
        </p:nvSpPr>
        <p:spPr>
          <a:xfrm>
            <a:off x="6400800" y="2197100"/>
            <a:ext cx="5127752" cy="92075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111111"/>
                </a:solidFill>
                <a:latin typeface="Arial" pitchFamily="34" charset="0"/>
                <a:ea typeface="Arial" pitchFamily="34" charset="-122"/>
                <a:cs typeface="Arial" pitchFamily="34" charset="-120"/>
              </a:rPr>
              <a:t>When</a:t>
            </a:r>
            <a:r>
              <a:rPr lang="en-US" sz="1700" dirty="0">
                <a:solidFill>
                  <a:srgbClr val="111111"/>
                </a:solidFill>
                <a:latin typeface="Arial" pitchFamily="34" charset="0"/>
                <a:ea typeface="Arial" pitchFamily="34" charset="-122"/>
                <a:cs typeface="Arial" pitchFamily="34" charset="-120"/>
              </a:rPr>
              <a:t> a client is called matters more than </a:t>
            </a:r>
            <a:r>
              <a:rPr lang="en-US" sz="1700" b="1" dirty="0">
                <a:solidFill>
                  <a:srgbClr val="111111"/>
                </a:solidFill>
                <a:latin typeface="Arial" pitchFamily="34" charset="0"/>
                <a:ea typeface="Arial" pitchFamily="34" charset="-122"/>
                <a:cs typeface="Arial" pitchFamily="34" charset="-120"/>
              </a:rPr>
              <a:t>who</a:t>
            </a:r>
            <a:r>
              <a:rPr lang="en-US" sz="1700" dirty="0">
                <a:solidFill>
                  <a:srgbClr val="111111"/>
                </a:solidFill>
                <a:latin typeface="Arial" pitchFamily="34" charset="0"/>
                <a:ea typeface="Arial" pitchFamily="34" charset="-122"/>
                <a:cs typeface="Arial" pitchFamily="34" charset="-120"/>
              </a:rPr>
              <a:t> they are: in bad economic times many more people took a deposit.</a:t>
            </a:r>
            <a:endParaRPr lang="en-US" sz="1700" dirty="0"/>
          </a:p>
        </p:txBody>
      </p:sp>
      <p:sp>
        <p:nvSpPr>
          <p:cNvPr id="7" name="Text 4"/>
          <p:cNvSpPr/>
          <p:nvPr/>
        </p:nvSpPr>
        <p:spPr>
          <a:xfrm>
            <a:off x="6400800" y="3295650"/>
            <a:ext cx="5127752" cy="62230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111111"/>
                </a:solidFill>
                <a:latin typeface="Arial" pitchFamily="34" charset="0"/>
                <a:ea typeface="Arial" pitchFamily="34" charset="-122"/>
                <a:cs typeface="Arial" pitchFamily="34" charset="-120"/>
              </a:rPr>
              <a:t>Within a period: past success, a mobile number, being young or retired.</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Conclusions and limitations</a:t>
            </a:r>
            <a:endParaRPr lang="en-US" sz="3600" dirty="0"/>
          </a:p>
        </p:txBody>
      </p:sp>
      <p:sp>
        <p:nvSpPr>
          <p:cNvPr id="3" name="Text 1"/>
          <p:cNvSpPr/>
          <p:nvPr/>
        </p:nvSpPr>
        <p:spPr>
          <a:xfrm>
            <a:off x="812800" y="16383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11111"/>
                </a:solidFill>
                <a:latin typeface="Arial" pitchFamily="34" charset="0"/>
                <a:ea typeface="Arial" pitchFamily="34" charset="-122"/>
                <a:cs typeface="Arial" pitchFamily="34" charset="-120"/>
              </a:rPr>
              <a:t>Future check:</a:t>
            </a:r>
            <a:r>
              <a:rPr lang="en-US" sz="1800" dirty="0">
                <a:solidFill>
                  <a:srgbClr val="111111"/>
                </a:solidFill>
                <a:latin typeface="Arial" pitchFamily="34" charset="0"/>
                <a:ea typeface="Arial" pitchFamily="34" charset="-122"/>
                <a:cs typeface="Arial" pitchFamily="34" charset="-120"/>
              </a:rPr>
              <a:t> trained on older calls, tested on newer ones → F1 </a:t>
            </a:r>
            <a:r>
              <a:rPr lang="en-US" sz="1800" b="1" dirty="0">
                <a:solidFill>
                  <a:srgbClr val="111111"/>
                </a:solidFill>
                <a:latin typeface="Arial" pitchFamily="34" charset="0"/>
                <a:ea typeface="Arial" pitchFamily="34" charset="-122"/>
                <a:cs typeface="Arial" pitchFamily="34" charset="-120"/>
              </a:rPr>
              <a:t>0.398</a:t>
            </a:r>
            <a:r>
              <a:rPr lang="en-US" sz="1800" dirty="0">
                <a:solidFill>
                  <a:srgbClr val="111111"/>
                </a:solidFill>
                <a:latin typeface="Arial" pitchFamily="34" charset="0"/>
                <a:ea typeface="Arial" pitchFamily="34" charset="-122"/>
                <a:cs typeface="Arial" pitchFamily="34" charset="-120"/>
              </a:rPr>
              <a:t>, worse than calling everyone (0.468).</a:t>
            </a:r>
            <a:endParaRPr lang="en-US" sz="1800" dirty="0"/>
          </a:p>
        </p:txBody>
      </p:sp>
      <p:sp>
        <p:nvSpPr>
          <p:cNvPr id="4" name="Text 2"/>
          <p:cNvSpPr/>
          <p:nvPr/>
        </p:nvSpPr>
        <p:spPr>
          <a:xfrm>
            <a:off x="812800" y="2578100"/>
            <a:ext cx="512775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Would I use it?</a:t>
            </a:r>
            <a:endParaRPr lang="en-US" sz="2000" dirty="0"/>
          </a:p>
        </p:txBody>
      </p:sp>
      <p:sp>
        <p:nvSpPr>
          <p:cNvPr id="5" name="Text 3"/>
          <p:cNvSpPr/>
          <p:nvPr/>
        </p:nvSpPr>
        <p:spPr>
          <a:xfrm>
            <a:off x="889508" y="2984500"/>
            <a:ext cx="5043424" cy="1212850"/>
          </a:xfrm>
          <a:prstGeom prst="rect">
            <a:avLst/>
          </a:prstGeom>
          <a:noFill/>
          <a:ln/>
        </p:spPr>
        <p:txBody>
          <a:bodyPr wrap="square" lIns="0" tIns="0" rIns="0" bIns="0" rtlCol="0" anchor="t">
            <a:normAutofit/>
          </a:bodyPr>
          <a:lstStyle/>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Not as it is for a new campaign</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Use the patterns now: always call past successes, mobile numbers, students and retired</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Don’t call the same client again and again</a:t>
            </a:r>
            <a:endParaRPr lang="en-US" sz="1600" dirty="0"/>
          </a:p>
        </p:txBody>
      </p:sp>
      <p:sp>
        <p:nvSpPr>
          <p:cNvPr id="6" name="Text 4"/>
          <p:cNvSpPr/>
          <p:nvPr/>
        </p:nvSpPr>
        <p:spPr>
          <a:xfrm>
            <a:off x="6400800" y="2578100"/>
            <a:ext cx="512775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1111"/>
                </a:solidFill>
                <a:latin typeface="Arial" pitchFamily="34" charset="0"/>
                <a:ea typeface="Arial" pitchFamily="34" charset="-122"/>
                <a:cs typeface="Arial" pitchFamily="34" charset="-120"/>
              </a:rPr>
              <a:t>With another week</a:t>
            </a:r>
            <a:endParaRPr lang="en-US" sz="2000" dirty="0"/>
          </a:p>
        </p:txBody>
      </p:sp>
      <p:sp>
        <p:nvSpPr>
          <p:cNvPr id="7" name="Text 5"/>
          <p:cNvSpPr/>
          <p:nvPr/>
        </p:nvSpPr>
        <p:spPr>
          <a:xfrm>
            <a:off x="6477508" y="2984500"/>
            <a:ext cx="5043424" cy="1219200"/>
          </a:xfrm>
          <a:prstGeom prst="rect">
            <a:avLst/>
          </a:prstGeom>
          <a:noFill/>
          <a:ln/>
        </p:spPr>
        <p:txBody>
          <a:bodyPr wrap="square" lIns="0" tIns="0" rIns="0" bIns="0" rtlCol="0" anchor="t">
            <a:normAutofit/>
          </a:bodyPr>
          <a:lstStyle/>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Validate by time, not randomly</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A model without the economy columns</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Real call costs and deposit value from the bank</a:t>
            </a:r>
            <a:endParaRPr lang="en-US" sz="1600" dirty="0"/>
          </a:p>
          <a:p>
            <a:pPr algn="l" marL="177292" indent="-177292">
              <a:lnSpc>
                <a:spcPts val="2320"/>
              </a:lnSpc>
              <a:buSzPct val="100000"/>
              <a:buChar char="•"/>
            </a:pPr>
            <a:r>
              <a:rPr lang="en-US" sz="1600" dirty="0">
                <a:solidFill>
                  <a:srgbClr val="111111"/>
                </a:solidFill>
                <a:latin typeface="Arial" pitchFamily="34" charset="0"/>
                <a:ea typeface="Arial" pitchFamily="34" charset="-122"/>
                <a:cs typeface="Arial" pitchFamily="34" charset="-120"/>
              </a:rPr>
              <a:t>Retrain on recent campaigns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6100"/>
          </a:xfrm>
          <a:prstGeom prst="rect">
            <a:avLst/>
          </a:prstGeom>
          <a:noFill/>
          <a:ln/>
        </p:spPr>
        <p:txBody>
          <a:bodyPr wrap="square" lIns="0" tIns="0" rIns="0" bIns="0" rtlCol="0" anchor="t">
            <a:normAutofit/>
          </a:bodyPr>
          <a:lstStyle/>
          <a:p>
            <a:pPr algn="l" indent="0" marL="0">
              <a:lnSpc>
                <a:spcPts val="4140"/>
              </a:lnSpc>
              <a:buNone/>
            </a:pPr>
            <a:r>
              <a:rPr lang="en-US" sz="3600" b="1" i="0" dirty="0">
                <a:solidFill>
                  <a:srgbClr val="111111"/>
                </a:solidFill>
                <a:latin typeface="Arial" pitchFamily="34" charset="0"/>
                <a:ea typeface="Arial" pitchFamily="34" charset="-122"/>
                <a:cs typeface="Arial" pitchFamily="34" charset="-120"/>
              </a:rPr>
              <a:t>Live demo</a:t>
            </a:r>
            <a:endParaRPr lang="en-US" sz="3600" dirty="0"/>
          </a:p>
        </p:txBody>
      </p:sp>
      <p:sp>
        <p:nvSpPr>
          <p:cNvPr id="3" name="Text 1"/>
          <p:cNvSpPr/>
          <p:nvPr/>
        </p:nvSpPr>
        <p:spPr>
          <a:xfrm>
            <a:off x="812800" y="1638300"/>
            <a:ext cx="10883392" cy="66040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11111"/>
                </a:solidFill>
                <a:latin typeface="Arial" pitchFamily="34" charset="0"/>
                <a:ea typeface="Arial" pitchFamily="34" charset="-122"/>
                <a:cs typeface="Arial" pitchFamily="34" charset="-120"/>
              </a:rPr>
              <a:t>The saved model (pipeline + threshold 0.60) is loaded and asked about one client, a 67-year-old retired person with a mobile number:</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590800"/>
          <a:ext cx="10553700" cy="1863725"/>
        </p:xfrm>
        <a:graphic>
          <a:graphicData uri="http://schemas.openxmlformats.org/drawingml/2006/table">
            <a:tbl>
              <a:tblPr/>
              <a:tblGrid>
                <a:gridCol w="5804535"/>
                <a:gridCol w="2638425"/>
                <a:gridCol w="2110740"/>
              </a:tblGrid>
              <a:tr h="465931">
                <a:tc>
                  <a:txBody>
                    <a:bodyPr/>
                    <a:lstStyle/>
                    <a:p>
                      <a:pPr indent="0" marL="0">
                        <a:lnSpc>
                          <a:spcPts val="2380"/>
                        </a:lnSpc>
                        <a:buNone/>
                      </a:pPr>
                      <a:r>
                        <a:rPr lang="en-US" sz="1700" b="1" dirty="0">
                          <a:solidFill>
                            <a:srgbClr val="111111"/>
                          </a:solidFill>
                          <a:latin typeface="Arial" pitchFamily="34" charset="0"/>
                          <a:ea typeface="Arial" pitchFamily="34" charset="-122"/>
                          <a:cs typeface="Arial" pitchFamily="34" charset="-120"/>
                        </a:rPr>
                        <a:t>Same client, called…</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380"/>
                        </a:lnSpc>
                        <a:buNone/>
                      </a:pPr>
                      <a:r>
                        <a:rPr lang="en-US" sz="1700" b="1" dirty="0">
                          <a:solidFill>
                            <a:srgbClr val="111111"/>
                          </a:solidFill>
                          <a:latin typeface="Arial" pitchFamily="34" charset="0"/>
                          <a:ea typeface="Arial" pitchFamily="34" charset="-122"/>
                          <a:cs typeface="Arial" pitchFamily="34" charset="-120"/>
                        </a:rPr>
                        <a:t>P(yes)</a:t>
                      </a:r>
                      <a:endParaRPr lang="en-US" sz="1700" dirty="0">
                        <a:latin typeface="Arial" charset="0"/>
                        <a:ea typeface="Arial" charset="0"/>
                        <a:cs typeface="Arial" charset="0"/>
                      </a:endParaRPr>
                    </a:p>
                  </a:txBody>
                  <a:tcPr marL="75565" marR="75565" marT="75565" marB="7556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algn="r" indent="0" marL="0">
                        <a:lnSpc>
                          <a:spcPts val="2380"/>
                        </a:lnSpc>
                        <a:buNone/>
                      </a:pPr>
                      <a:r>
                        <a:rPr lang="en-US" sz="1700" b="1" dirty="0">
                          <a:solidFill>
                            <a:srgbClr val="111111"/>
                          </a:solidFill>
                          <a:latin typeface="Arial" pitchFamily="34" charset="0"/>
                          <a:ea typeface="Arial" pitchFamily="34" charset="-122"/>
                          <a:cs typeface="Arial" pitchFamily="34" charset="-120"/>
                        </a:rPr>
                        <a:t>Decision</a:t>
                      </a:r>
                      <a:endParaRPr lang="en-US" sz="1700" dirty="0">
                        <a:latin typeface="Arial" charset="0"/>
                        <a:ea typeface="Arial" charset="0"/>
                        <a:cs typeface="Arial" charset="0"/>
                      </a:endParaRPr>
                    </a:p>
                  </a:txBody>
                  <a:tcPr marL="75565" marR="75565" marT="75565" marB="75565"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465931">
                <a:tc>
                  <a:txBody>
                    <a:bodyPr/>
                    <a:lstStyle/>
                    <a:p>
                      <a:pPr indent="0" marL="0">
                        <a:lnSpc>
                          <a:spcPts val="2380"/>
                        </a:lnSpc>
                        <a:buNone/>
                      </a:pPr>
                      <a:r>
                        <a:rPr lang="en-US" sz="1700" dirty="0">
                          <a:solidFill>
                            <a:srgbClr val="111111"/>
                          </a:solidFill>
                          <a:latin typeface="Arial" pitchFamily="34" charset="0"/>
                          <a:ea typeface="Arial" pitchFamily="34" charset="-122"/>
                          <a:cs typeface="Arial" pitchFamily="34" charset="-120"/>
                        </a:rPr>
                        <a:t>in a bad economic period (Oct, low rates)</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0.81</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call</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5931">
                <a:tc>
                  <a:txBody>
                    <a:bodyPr/>
                    <a:lstStyle/>
                    <a:p>
                      <a:pPr indent="0" marL="0">
                        <a:lnSpc>
                          <a:spcPts val="2380"/>
                        </a:lnSpc>
                        <a:buNone/>
                      </a:pPr>
                      <a:r>
                        <a:rPr lang="en-US" sz="1700" dirty="0">
                          <a:solidFill>
                            <a:srgbClr val="111111"/>
                          </a:solidFill>
                          <a:latin typeface="Arial" pitchFamily="34" charset="0"/>
                          <a:ea typeface="Arial" pitchFamily="34" charset="-122"/>
                          <a:cs typeface="Arial" pitchFamily="34" charset="-120"/>
                        </a:rPr>
                        <a:t>in a good economic period (Jul, high rates)</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0.37</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skip</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65931">
                <a:tc>
                  <a:txBody>
                    <a:bodyPr/>
                    <a:lstStyle/>
                    <a:p>
                      <a:pPr indent="0" marL="0">
                        <a:lnSpc>
                          <a:spcPts val="2380"/>
                        </a:lnSpc>
                        <a:buNone/>
                      </a:pPr>
                      <a:r>
                        <a:rPr lang="en-US" sz="1700" dirty="0">
                          <a:solidFill>
                            <a:srgbClr val="111111"/>
                          </a:solidFill>
                          <a:latin typeface="Arial" pitchFamily="34" charset="0"/>
                          <a:ea typeface="Arial" pitchFamily="34" charset="-122"/>
                          <a:cs typeface="Arial" pitchFamily="34" charset="-120"/>
                        </a:rPr>
                        <a:t>good period, but last campaign was a success</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0.69</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2380"/>
                        </a:lnSpc>
                        <a:buNone/>
                      </a:pPr>
                      <a:r>
                        <a:rPr lang="en-US" sz="1700" dirty="0">
                          <a:solidFill>
                            <a:srgbClr val="111111"/>
                          </a:solidFill>
                          <a:latin typeface="Arial" pitchFamily="34" charset="0"/>
                          <a:ea typeface="Arial" pitchFamily="34" charset="-122"/>
                          <a:cs typeface="Arial" pitchFamily="34" charset="-120"/>
                        </a:rPr>
                        <a:t>call</a:t>
                      </a:r>
                      <a:endParaRPr lang="en-US" sz="1700" dirty="0">
                        <a:latin typeface="Arial" charset="0"/>
                        <a:ea typeface="Arial" charset="0"/>
                        <a:cs typeface="Arial" charset="0"/>
                      </a:endParaRPr>
                    </a:p>
                  </a:txBody>
                  <a:tcPr marL="75565" marR="75565" marT="75565" marB="75565"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75932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notebooks/03_evaluation_and_interpretation.ipynb · section 5</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2454275"/>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111111"/>
                </a:solidFill>
                <a:latin typeface="Arial" pitchFamily="34" charset="0"/>
                <a:ea typeface="Arial" pitchFamily="34" charset="-122"/>
                <a:cs typeface="Arial" pitchFamily="34" charset="-120"/>
              </a:rPr>
              <a:t>Thank you</a:t>
            </a:r>
            <a:endParaRPr lang="en-US" sz="6000" dirty="0"/>
          </a:p>
        </p:txBody>
      </p:sp>
      <p:sp>
        <p:nvSpPr>
          <p:cNvPr id="3" name="Text 1"/>
          <p:cNvSpPr/>
          <p:nvPr/>
        </p:nvSpPr>
        <p:spPr>
          <a:xfrm>
            <a:off x="812800" y="3508375"/>
            <a:ext cx="10883392" cy="38735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11111"/>
                </a:solidFill>
                <a:latin typeface="Arial" pitchFamily="34" charset="0"/>
                <a:ea typeface="Arial" pitchFamily="34" charset="-122"/>
                <a:cs typeface="Arial" pitchFamily="34" charset="-120"/>
              </a:rPr>
              <a:t>Who will subscribe to a term deposit?</a:t>
            </a:r>
            <a:endParaRPr lang="en-US" sz="2200" dirty="0"/>
          </a:p>
        </p:txBody>
      </p:sp>
      <p:sp>
        <p:nvSpPr>
          <p:cNvPr id="4" name="Text 2"/>
          <p:cNvSpPr/>
          <p:nvPr/>
        </p:nvSpPr>
        <p:spPr>
          <a:xfrm>
            <a:off x="812800" y="4124325"/>
            <a:ext cx="10883392" cy="30480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55555"/>
                </a:solidFill>
                <a:latin typeface="Arial" pitchFamily="34" charset="0"/>
                <a:ea typeface="Arial" pitchFamily="34" charset="-122"/>
                <a:cs typeface="Arial" pitchFamily="34" charset="-120"/>
              </a:rPr>
              <a:t>Tamim Wahage · Questions welcome</a:t>
            </a:r>
            <a:endParaRPr lang="en-US" sz="1600" dirty="0"/>
          </a:p>
        </p:txBody>
      </p:sp>
    </p:spTree>
  </p:cSld>
  <p:clrMapOvr>
    <a:masterClrMapping/>
  </p:clrMapOvr>
</p:sld>
</file>

<file path=ppt/theme/theme1.xml><?xml version="1.0" encoding="utf-8"?>
<a:theme xmlns:a="http://schemas.openxmlformats.org/drawingml/2006/main" name="Bank Marketing: Who Subscribes?">
  <a:themeElements>
    <a:clrScheme name="Bank Marketing: Who Subscribes?">
      <a:dk1>
        <a:srgbClr val="111111"/>
      </a:dk1>
      <a:lt1>
        <a:srgbClr val="FFFFFF"/>
      </a:lt1>
      <a:dk2>
        <a:srgbClr val="4D4D4D"/>
      </a:dk2>
      <a:lt2>
        <a:srgbClr val="E7E7E7"/>
      </a:lt2>
      <a:accent1>
        <a:srgbClr val="555555"/>
      </a:accent1>
      <a:accent2>
        <a:srgbClr val="9AA0A6"/>
      </a:accent2>
      <a:accent3>
        <a:srgbClr val="707070"/>
      </a:accent3>
      <a:accent4>
        <a:srgbClr val="949494"/>
      </a:accent4>
      <a:accent5>
        <a:srgbClr val="B8B8B8"/>
      </a:accent5>
      <a:accent6>
        <a:srgbClr val="CFCFCF"/>
      </a:accent6>
      <a:hlink>
        <a:srgbClr val="0563C1"/>
      </a:hlink>
      <a:folHlink>
        <a:srgbClr val="954F72"/>
      </a:folHlink>
    </a:clrScheme>
    <a:fontScheme name="Bank Marketing: Who Subscrib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 Marketing: Who Subscribes?</dc:title>
  <dc:subject/>
  <dc:creator/>
  <cp:lastModifiedBy/>
  <cp:revision>1</cp:revision>
  <dcterms:created xsi:type="dcterms:W3CDTF">2026-10-22T08:23:18Z</dcterms:created>
  <dcterms:modified xsi:type="dcterms:W3CDTF">2026-10-22T08:23:18Z</dcterms:modified>
</cp:coreProperties>
</file>