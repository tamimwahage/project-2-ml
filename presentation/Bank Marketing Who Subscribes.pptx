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0:20 (total 0:20). Hi, I’m Tamim. My project is about a bank that sells term deposits by phone, and whether we can predict who says yes before we call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0:40 (total 1:00). The bank runs phone campaigns. Every call costs an agent’s time, and most clients say no. So the idea is: before we call someone, predict if they’ll subscribe. The marketing team can then sort the call list and skip the hopeless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0:40 (total 1:40). The data is the UCI Bank Marketing dataset, 41k calls over two and a half years. A few traps: the call duration predicts the answer almost perfectly, but you only know it after the call, so it had to go. Missing values are hidden as “unknown” and 999. And the rows are sorted by date, which becomes important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 (total 2:25). Only about one in nine clients says yes. That makes accuracy useless: a model that always says no is 89% accurate and never finds a customer. A missed yes is a lost sale, so I use F1, which balances finding the subscribers and not wasting calls. The baseline is what the bank basically does now: call everyone. That gives an F1 of 0.203, and that’s the number every model has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0:50 (total 3:10). I compared four model families, and each one with six ways to handle the imbalance: nothing, class weights, copying yes clients, SMOTE, throwing away no clients, and cluster centroids. All on the same folds, each at its best threshold. Everything beats the baseline. Gradient boosting with class weights is best, logistic regression second; the gap is small, but gradient boosting wins on every single fold. The imbalance method hardly matters, only cluster centroids clearly hurts. I also tuned the two best ones, but the defaults were already as good, so I kept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0:35 (total 3:45). With only 11% yes, the model has to be pushed to say yes more often. Here are all six methods for gradient boosting. At the default threshold the difference is big, but once you move the threshold they all end up at the same F1, except cluster centroids, which throws away too much data. So the threshold is what matters. I chose 0.60: F1 is almost at its best there, and since a missed customer is worse than a wasted call, I take the lower threshold that finds a few more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0:40 (total 4:25). On the test set, used only once at the very end, the model gets 0.519. That’s close to the cross-validation estimate, so no sign of overfitting, and about 2.5 times the baseline. In business terms: the bank would make only 15% of the calls and still reach 61% of the people who would subscribe.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0:50 (total 5:15). This is the most important slide. When I split the test errors by period, the model basically does two things: in the bad economic periods, where almost half the people said yes, it calls nearly everyone. In the good periods it calls almost nobody and misses nearly all subscribers there. Only in one period does it really pick client by client. So a big part of the score comes from knowing when the call happened. It’s also weak for landline clients and for clients who were never contacted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0:40 (total 5:55). Permutation importance says the same thing: shuffle nr.employed and F1 drops by 0.23, way more than anything else. The economy columns share their importance because they move together. For the bank this means: timing matters more than the client. Within a period, the good signs are a success in the last campaign, a mobile number, and young or retired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0:55 (total 6:50). The honest conclusion: the random test split flatters the model, because train and test come from the same periods. When I trained on the older calls and tested on the newer ones, it did worse than calling everyone in that period. So I wouldn’t use it as it is for a new campaign. But the patterns are useful right away. With another week I’d test on later campaigns instead of a random split, keep the economy information but in a form that still works in a new period, and get real costs from the bank to set the threshold with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3:00 (total 9:50). Switch to notebook 03, section 5. 1) Run the cell that loads models/bank_marketing_model.joblib. 2) Run the five test clients: one gets a call, four are skipped, which fits the 15% call rate. 3) Run the made-up client: retired, 67, mobile, called in a bad economic period: 0.81, call. 4) Run the same client in a good period: 0.37, skip. That’s the period effect from the errors slide. 5) Give the same client a past success: 0.69, call again. Close with: the model works, but it mostly knows when to call, not who.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0:10 (total 10:00).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0700"/>
          </a:xfrm>
          <a:prstGeom prst="rect">
            <a:avLst/>
          </a:prstGeom>
          <a:noFill/>
          <a:ln/>
        </p:spPr>
        <p:txBody>
          <a:bodyPr wrap="square" lIns="0" tIns="0" rIns="0" bIns="0" rtlCol="0" anchor="t"/>
          <a:lstStyle>
            <a:lvl1pPr algn="l" indent="0" marL="0">
              <a:lnSpc>
                <a:spcPct val="115000"/>
              </a:lnSpc>
              <a:buNone/>
              <a:defRPr lang="en-US" sz="3600" dirty="0">
                <a:solidFill>
                  <a:srgbClr val="111111"/>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38300"/>
            <a:ext cx="10566400" cy="4406900"/>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0700"/>
          </a:xfrm>
          <a:prstGeom prst="rect">
            <a:avLst/>
          </a:prstGeom>
          <a:noFill/>
          <a:ln/>
        </p:spPr>
        <p:txBody>
          <a:bodyPr wrap="square" lIns="0" tIns="0" rIns="0" bIns="0" rtlCol="0" anchor="t"/>
          <a:lstStyle>
            <a:lvl1pPr algn="l" indent="0" marL="0">
              <a:lnSpc>
                <a:spcPct val="115000"/>
              </a:lnSpc>
              <a:buNone/>
              <a:defRPr lang="en-US" sz="3600" dirty="0">
                <a:solidFill>
                  <a:srgbClr val="111111"/>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38300"/>
            <a:ext cx="10566400" cy="4406900"/>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787525"/>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55555"/>
                </a:solidFill>
                <a:latin typeface="Arial" pitchFamily="34" charset="0"/>
                <a:ea typeface="Arial" pitchFamily="34" charset="-122"/>
                <a:cs typeface="Arial" pitchFamily="34" charset="-120"/>
              </a:rPr>
              <a:t>Project 2 · Machine Learning: From Data to Predictions</a:t>
            </a:r>
            <a:endParaRPr lang="en-US" sz="1600" dirty="0"/>
          </a:p>
        </p:txBody>
      </p:sp>
      <p:sp>
        <p:nvSpPr>
          <p:cNvPr id="3" name="Text 1"/>
          <p:cNvSpPr/>
          <p:nvPr>
            <p:ph type="title"/>
          </p:nvPr>
        </p:nvSpPr>
        <p:spPr>
          <a:xfrm>
            <a:off x="812800" y="2320925"/>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11111"/>
                </a:solidFill>
                <a:latin typeface="Arial" pitchFamily="34" charset="0"/>
                <a:ea typeface="Arial" pitchFamily="34" charset="-122"/>
                <a:cs typeface="Arial" pitchFamily="34" charset="-120"/>
              </a:rPr>
              <a:t>Who will subscribe</a:t>
            </a:r>
            <a:endParaRPr lang="en-US" sz="6000" dirty="0"/>
          </a:p>
          <a:p>
            <a:pPr algn="l" indent="0" marL="0">
              <a:lnSpc>
                <a:spcPts val="6300"/>
              </a:lnSpc>
              <a:buNone/>
            </a:pPr>
            <a:r>
              <a:rPr lang="en-US" sz="6000" b="1" i="0" dirty="0">
                <a:solidFill>
                  <a:srgbClr val="111111"/>
                </a:solidFill>
                <a:latin typeface="Arial" pitchFamily="34" charset="0"/>
                <a:ea typeface="Arial" pitchFamily="34" charset="-122"/>
                <a:cs typeface="Arial" pitchFamily="34" charset="-120"/>
              </a:rPr>
              <a:t>to a term deposit?</a:t>
            </a:r>
            <a:endParaRPr lang="en-US" sz="6000" dirty="0"/>
          </a:p>
        </p:txBody>
      </p:sp>
      <p:sp>
        <p:nvSpPr>
          <p:cNvPr id="4" name="Text 2"/>
          <p:cNvSpPr/>
          <p:nvPr/>
        </p:nvSpPr>
        <p:spPr>
          <a:xfrm>
            <a:off x="812800" y="4175125"/>
            <a:ext cx="10883392" cy="38735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11111"/>
                </a:solidFill>
                <a:latin typeface="Arial" pitchFamily="34" charset="0"/>
                <a:ea typeface="Arial" pitchFamily="34" charset="-122"/>
                <a:cs typeface="Arial" pitchFamily="34" charset="-120"/>
              </a:rPr>
              <a:t>Predicting the outcome of a bank’s phone calls before they’re made</a:t>
            </a:r>
            <a:endParaRPr lang="en-US" sz="2200" dirty="0"/>
          </a:p>
        </p:txBody>
      </p:sp>
      <p:sp>
        <p:nvSpPr>
          <p:cNvPr id="5" name="Text 3"/>
          <p:cNvSpPr/>
          <p:nvPr/>
        </p:nvSpPr>
        <p:spPr>
          <a:xfrm>
            <a:off x="812800" y="4791075"/>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55555"/>
                </a:solidFill>
                <a:latin typeface="Arial" pitchFamily="34" charset="0"/>
                <a:ea typeface="Arial" pitchFamily="34" charset="-122"/>
                <a:cs typeface="Arial" pitchFamily="34" charset="-120"/>
              </a:rPr>
              <a:t>Tamim Wahage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4610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11111"/>
                </a:solidFill>
                <a:latin typeface="Arial" pitchFamily="34" charset="0"/>
                <a:ea typeface="Arial" pitchFamily="34" charset="-122"/>
                <a:cs typeface="Arial" pitchFamily="34" charset="-120"/>
              </a:rPr>
              <a:t>The problem</a:t>
            </a:r>
            <a:endParaRPr lang="en-US" sz="3600" dirty="0"/>
          </a:p>
        </p:txBody>
      </p:sp>
      <p:sp>
        <p:nvSpPr>
          <p:cNvPr id="3" name="Text 1"/>
          <p:cNvSpPr/>
          <p:nvPr/>
        </p:nvSpPr>
        <p:spPr>
          <a:xfrm>
            <a:off x="812800" y="1739900"/>
            <a:ext cx="11379200" cy="40005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111111"/>
                </a:solidFill>
                <a:latin typeface="Arial" pitchFamily="34" charset="0"/>
                <a:ea typeface="Arial" pitchFamily="34" charset="-122"/>
                <a:cs typeface="Arial" pitchFamily="34" charset="-120"/>
              </a:rPr>
              <a:t>A Portuguese bank calls clients to sell them a term deposit. Most calls end with a no.</a:t>
            </a:r>
            <a:endParaRPr lang="en-US" sz="2200" dirty="0"/>
          </a:p>
        </p:txBody>
      </p:sp>
      <p:sp>
        <p:nvSpPr>
          <p:cNvPr id="4" name="Text 2"/>
          <p:cNvSpPr/>
          <p:nvPr/>
        </p:nvSpPr>
        <p:spPr>
          <a:xfrm>
            <a:off x="812800" y="2520950"/>
            <a:ext cx="10883392"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11111"/>
                </a:solidFill>
                <a:latin typeface="Arial" pitchFamily="34" charset="0"/>
                <a:ea typeface="Arial" pitchFamily="34" charset="-122"/>
                <a:cs typeface="Arial" pitchFamily="34" charset="-120"/>
              </a:rPr>
              <a:t>What I predict:</a:t>
            </a:r>
            <a:r>
              <a:rPr lang="en-US" sz="1800" dirty="0">
                <a:solidFill>
                  <a:srgbClr val="111111"/>
                </a:solidFill>
                <a:latin typeface="Arial" pitchFamily="34" charset="0"/>
                <a:ea typeface="Arial" pitchFamily="34" charset="-122"/>
                <a:cs typeface="Arial" pitchFamily="34" charset="-120"/>
              </a:rPr>
              <a:t> will this client subscribe? (before the call)</a:t>
            </a:r>
            <a:endParaRPr lang="en-US" sz="1800" dirty="0"/>
          </a:p>
        </p:txBody>
      </p:sp>
      <p:sp>
        <p:nvSpPr>
          <p:cNvPr id="5" name="Text 3"/>
          <p:cNvSpPr/>
          <p:nvPr/>
        </p:nvSpPr>
        <p:spPr>
          <a:xfrm>
            <a:off x="812800" y="3041650"/>
            <a:ext cx="10883392"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11111"/>
                </a:solidFill>
                <a:latin typeface="Arial" pitchFamily="34" charset="0"/>
                <a:ea typeface="Arial" pitchFamily="34" charset="-122"/>
                <a:cs typeface="Arial" pitchFamily="34" charset="-120"/>
              </a:rPr>
              <a:t>For whom:</a:t>
            </a:r>
            <a:r>
              <a:rPr lang="en-US" sz="1800" dirty="0">
                <a:solidFill>
                  <a:srgbClr val="111111"/>
                </a:solidFill>
                <a:latin typeface="Arial" pitchFamily="34" charset="0"/>
                <a:ea typeface="Arial" pitchFamily="34" charset="-122"/>
                <a:cs typeface="Arial" pitchFamily="34" charset="-120"/>
              </a:rPr>
              <a:t> the marketing team planning the call list</a:t>
            </a:r>
            <a:endParaRPr lang="en-US" sz="1800" dirty="0"/>
          </a:p>
        </p:txBody>
      </p:sp>
      <p:sp>
        <p:nvSpPr>
          <p:cNvPr id="6" name="Text 4"/>
          <p:cNvSpPr/>
          <p:nvPr/>
        </p:nvSpPr>
        <p:spPr>
          <a:xfrm>
            <a:off x="812800" y="3562350"/>
            <a:ext cx="10883392"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11111"/>
                </a:solidFill>
                <a:latin typeface="Arial" pitchFamily="34" charset="0"/>
                <a:ea typeface="Arial" pitchFamily="34" charset="-122"/>
                <a:cs typeface="Arial" pitchFamily="34" charset="-120"/>
              </a:rPr>
              <a:t>What they do with it:</a:t>
            </a:r>
            <a:r>
              <a:rPr lang="en-US" sz="1800" dirty="0">
                <a:solidFill>
                  <a:srgbClr val="111111"/>
                </a:solidFill>
                <a:latin typeface="Arial" pitchFamily="34" charset="0"/>
                <a:ea typeface="Arial" pitchFamily="34" charset="-122"/>
                <a:cs typeface="Arial" pitchFamily="34" charset="-120"/>
              </a:rPr>
              <a:t> call the likely clients first, skip the ones who’ll almost surely say no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4610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11111"/>
                </a:solidFill>
                <a:latin typeface="Arial" pitchFamily="34" charset="0"/>
                <a:ea typeface="Arial" pitchFamily="34" charset="-122"/>
                <a:cs typeface="Arial" pitchFamily="34" charset="-120"/>
              </a:rPr>
              <a:t>The data</a:t>
            </a:r>
            <a:endParaRPr lang="en-US" sz="3600" dirty="0"/>
          </a:p>
        </p:txBody>
      </p:sp>
      <p:sp>
        <p:nvSpPr>
          <p:cNvPr id="3" name="Text 1"/>
          <p:cNvSpPr/>
          <p:nvPr/>
        </p:nvSpPr>
        <p:spPr>
          <a:xfrm>
            <a:off x="812800" y="1691640"/>
            <a:ext cx="5760720" cy="105156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111111"/>
                </a:solidFill>
                <a:latin typeface="Arial" pitchFamily="34" charset="0"/>
                <a:ea typeface="Arial" pitchFamily="34" charset="-122"/>
                <a:cs typeface="Arial" pitchFamily="34" charset="-120"/>
              </a:rPr>
              <a:t>41,188 phone contacts, May 2008 – Nov 2010. One row = one call to one client: client info, earlier contacts, the economy at that time.</a:t>
            </a:r>
            <a:endParaRPr lang="en-US" sz="2000" dirty="0"/>
          </a:p>
        </p:txBody>
      </p:sp>
      <p:sp>
        <p:nvSpPr>
          <p:cNvPr id="4" name="Text 2"/>
          <p:cNvSpPr/>
          <p:nvPr/>
        </p:nvSpPr>
        <p:spPr>
          <a:xfrm>
            <a:off x="812800" y="2880360"/>
            <a:ext cx="5760720" cy="329184"/>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111"/>
                </a:solidFill>
                <a:latin typeface="Arial" pitchFamily="34" charset="0"/>
                <a:ea typeface="Arial" pitchFamily="34" charset="-122"/>
                <a:cs typeface="Arial" pitchFamily="34" charset="-120"/>
              </a:rPr>
              <a:t>The traps I found</a:t>
            </a:r>
            <a:endParaRPr lang="en-US" sz="2000" dirty="0"/>
          </a:p>
        </p:txBody>
      </p:sp>
      <p:sp>
        <p:nvSpPr>
          <p:cNvPr id="5" name="Text 3"/>
          <p:cNvSpPr/>
          <p:nvPr/>
        </p:nvSpPr>
        <p:spPr>
          <a:xfrm>
            <a:off x="882396" y="3291840"/>
            <a:ext cx="5696712" cy="2743200"/>
          </a:xfrm>
          <a:prstGeom prst="rect">
            <a:avLst/>
          </a:prstGeom>
          <a:noFill/>
          <a:ln/>
        </p:spPr>
        <p:txBody>
          <a:bodyPr wrap="square" lIns="0" tIns="0" rIns="0" bIns="0" rtlCol="0" anchor="t">
            <a:normAutofit/>
          </a:bodyPr>
          <a:lstStyle/>
          <a:p>
            <a:pPr algn="l" marL="184404" indent="-184404">
              <a:lnSpc>
                <a:spcPts val="2465"/>
              </a:lnSpc>
              <a:buSzPct val="100000"/>
              <a:buChar char="•"/>
            </a:pPr>
            <a:r>
              <a:rPr lang="en-US" sz="1700" b="1" dirty="0">
                <a:solidFill>
                  <a:srgbClr val="111111"/>
                </a:solidFill>
                <a:latin typeface="Arial" pitchFamily="34" charset="0"/>
                <a:ea typeface="Arial" pitchFamily="34" charset="-122"/>
                <a:cs typeface="Arial" pitchFamily="34" charset="-120"/>
              </a:rPr>
              <a:t>duration</a:t>
            </a:r>
            <a:r>
              <a:rPr lang="en-US" sz="1700" dirty="0">
                <a:solidFill>
                  <a:srgbClr val="111111"/>
                </a:solidFill>
                <a:latin typeface="Arial" pitchFamily="34" charset="0"/>
                <a:ea typeface="Arial" pitchFamily="34" charset="-122"/>
                <a:cs typeface="Arial" pitchFamily="34" charset="-120"/>
              </a:rPr>
              <a:t> (call length) is only known after the call → dropped (leakage)</a:t>
            </a:r>
            <a:endParaRPr lang="en-US" sz="1700" dirty="0"/>
          </a:p>
          <a:p>
            <a:pPr algn="l" marL="184404" indent="-184404">
              <a:lnSpc>
                <a:spcPts val="2465"/>
              </a:lnSpc>
              <a:buSzPct val="100000"/>
              <a:buChar char="•"/>
            </a:pPr>
            <a:r>
              <a:rPr lang="en-US" sz="1700" dirty="0">
                <a:solidFill>
                  <a:srgbClr val="111111"/>
                </a:solidFill>
                <a:latin typeface="Arial" pitchFamily="34" charset="0"/>
                <a:ea typeface="Arial" pitchFamily="34" charset="-122"/>
                <a:cs typeface="Arial" pitchFamily="34" charset="-120"/>
              </a:rPr>
              <a:t>missing values hide as </a:t>
            </a:r>
            <a:r>
              <a:rPr lang="en-US" sz="1700" b="1" dirty="0">
                <a:solidFill>
                  <a:srgbClr val="111111"/>
                </a:solidFill>
                <a:latin typeface="Arial" pitchFamily="34" charset="0"/>
                <a:ea typeface="Arial" pitchFamily="34" charset="-122"/>
                <a:cs typeface="Arial" pitchFamily="34" charset="-120"/>
              </a:rPr>
              <a:t>“unknown”</a:t>
            </a:r>
            <a:r>
              <a:rPr lang="en-US" sz="1700" dirty="0">
                <a:solidFill>
                  <a:srgbClr val="111111"/>
                </a:solidFill>
                <a:latin typeface="Arial" pitchFamily="34" charset="0"/>
                <a:ea typeface="Arial" pitchFamily="34" charset="-122"/>
                <a:cs typeface="Arial" pitchFamily="34" charset="-120"/>
              </a:rPr>
              <a:t> and </a:t>
            </a:r>
            <a:r>
              <a:rPr lang="en-US" sz="1700" b="1" dirty="0">
                <a:solidFill>
                  <a:srgbClr val="111111"/>
                </a:solidFill>
                <a:latin typeface="Arial" pitchFamily="34" charset="0"/>
                <a:ea typeface="Arial" pitchFamily="34" charset="-122"/>
                <a:cs typeface="Arial" pitchFamily="34" charset="-120"/>
              </a:rPr>
              <a:t>pdays = 999</a:t>
            </a:r>
            <a:r>
              <a:rPr lang="en-US" sz="1700" dirty="0">
                <a:solidFill>
                  <a:srgbClr val="111111"/>
                </a:solidFill>
                <a:latin typeface="Arial" pitchFamily="34" charset="0"/>
                <a:ea typeface="Arial" pitchFamily="34" charset="-122"/>
                <a:cs typeface="Arial" pitchFamily="34" charset="-120"/>
              </a:rPr>
              <a:t> → kept as a category / replaced by a flag</a:t>
            </a:r>
            <a:endParaRPr lang="en-US" sz="1700" dirty="0"/>
          </a:p>
          <a:p>
            <a:pPr algn="l" marL="184404" indent="-184404">
              <a:lnSpc>
                <a:spcPts val="2465"/>
              </a:lnSpc>
              <a:buSzPct val="100000"/>
              <a:buChar char="•"/>
            </a:pPr>
            <a:r>
              <a:rPr lang="en-US" sz="1700" dirty="0">
                <a:solidFill>
                  <a:srgbClr val="111111"/>
                </a:solidFill>
                <a:latin typeface="Arial" pitchFamily="34" charset="0"/>
                <a:ea typeface="Arial" pitchFamily="34" charset="-122"/>
                <a:cs typeface="Arial" pitchFamily="34" charset="-120"/>
              </a:rPr>
              <a:t>12 exact duplicates → dropped</a:t>
            </a:r>
            <a:endParaRPr lang="en-US" sz="1700" dirty="0"/>
          </a:p>
          <a:p>
            <a:pPr algn="l" marL="184404" indent="-184404">
              <a:lnSpc>
                <a:spcPts val="2465"/>
              </a:lnSpc>
              <a:buSzPct val="100000"/>
              <a:buChar char="•"/>
            </a:pPr>
            <a:r>
              <a:rPr lang="en-US" sz="1700" dirty="0">
                <a:solidFill>
                  <a:srgbClr val="111111"/>
                </a:solidFill>
                <a:latin typeface="Arial" pitchFamily="34" charset="0"/>
                <a:ea typeface="Arial" pitchFamily="34" charset="-122"/>
                <a:cs typeface="Arial" pitchFamily="34" charset="-120"/>
              </a:rPr>
              <a:t>the file is sorted by date and the economy columns act like a hidden date</a:t>
            </a:r>
            <a:endParaRPr lang="en-US" sz="1700" dirty="0"/>
          </a:p>
        </p:txBody>
      </p:sp>
      <p:sp>
        <p:nvSpPr>
          <p:cNvPr id="6" name="Text 4"/>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5555"/>
                </a:solidFill>
                <a:latin typeface="Arial" pitchFamily="34" charset="0"/>
                <a:ea typeface="Arial" pitchFamily="34" charset="-122"/>
                <a:cs typeface="Arial" pitchFamily="34" charset="-120"/>
              </a:rPr>
              <a:t>Source: Moro, Rita &amp; Cortez (2014), Bank Marketing, UCI Machine Learning Repository, doi.org/10.24432/C5K306. Licence: CC BY 4.0.</a:t>
            </a:r>
            <a:endParaRPr lang="en-US" sz="1200" dirty="0"/>
          </a:p>
        </p:txBody>
      </p:sp>
      <p:pic>
        <p:nvPicPr>
          <p:cNvPr id="7" name="Feature overview" descr="The columns of the dataset in five groups: client, this campaign's call, earlier campaigns, economy at call time, and the target y. duration, housing and loan are dropped; pdays becomes a yes/no flag."/>
          <p:cNvPicPr>
            <a:picLocks noChangeAspect="1"/>
          </p:cNvPicPr>
          <p:nvPr/>
        </p:nvPicPr>
        <p:blipFill>
          <a:blip r:embed="rId3"/>
          <a:stretch>
            <a:fillRect/>
          </a:stretch>
        </p:blipFill>
        <p:spPr>
          <a:xfrm>
            <a:off x="6949440" y="1691640"/>
            <a:ext cx="4480560" cy="40497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4610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11111"/>
                </a:solidFill>
                <a:latin typeface="Arial" pitchFamily="34" charset="0"/>
                <a:ea typeface="Arial" pitchFamily="34" charset="-122"/>
                <a:cs typeface="Arial" pitchFamily="34" charset="-120"/>
              </a:rPr>
              <a:t>The metric and the baseline</a:t>
            </a:r>
            <a:endParaRPr lang="en-US" sz="3600" dirty="0"/>
          </a:p>
        </p:txBody>
      </p:sp>
      <p:sp>
        <p:nvSpPr>
          <p:cNvPr id="3" name="Text 1"/>
          <p:cNvSpPr/>
          <p:nvPr/>
        </p:nvSpPr>
        <p:spPr>
          <a:xfrm>
            <a:off x="812800" y="1689100"/>
            <a:ext cx="4800727" cy="6604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11111"/>
                </a:solidFill>
                <a:latin typeface="Arial" pitchFamily="34" charset="0"/>
                <a:ea typeface="Arial" pitchFamily="34" charset="-122"/>
                <a:cs typeface="Arial" pitchFamily="34" charset="-120"/>
              </a:rPr>
              <a:t>Only </a:t>
            </a:r>
            <a:r>
              <a:rPr lang="en-US" sz="1800" b="1" dirty="0">
                <a:solidFill>
                  <a:srgbClr val="111111"/>
                </a:solidFill>
                <a:latin typeface="Arial" pitchFamily="34" charset="0"/>
                <a:ea typeface="Arial" pitchFamily="34" charset="-122"/>
                <a:cs typeface="Arial" pitchFamily="34" charset="-120"/>
              </a:rPr>
              <a:t>11.3%</a:t>
            </a:r>
            <a:r>
              <a:rPr lang="en-US" sz="1800" dirty="0">
                <a:solidFill>
                  <a:srgbClr val="111111"/>
                </a:solidFill>
                <a:latin typeface="Arial" pitchFamily="34" charset="0"/>
                <a:ea typeface="Arial" pitchFamily="34" charset="-122"/>
                <a:cs typeface="Arial" pitchFamily="34" charset="-120"/>
              </a:rPr>
              <a:t> say yes. Saying “no” to everyone is </a:t>
            </a:r>
            <a:r>
              <a:rPr lang="en-US" sz="1800" b="1" dirty="0">
                <a:solidFill>
                  <a:srgbClr val="111111"/>
                </a:solidFill>
                <a:latin typeface="Arial" pitchFamily="34" charset="0"/>
                <a:ea typeface="Arial" pitchFamily="34" charset="-122"/>
                <a:cs typeface="Arial" pitchFamily="34" charset="-120"/>
              </a:rPr>
              <a:t>88.7% accurate</a:t>
            </a:r>
            <a:r>
              <a:rPr lang="en-US" sz="1800" dirty="0">
                <a:solidFill>
                  <a:srgbClr val="111111"/>
                </a:solidFill>
                <a:latin typeface="Arial" pitchFamily="34" charset="0"/>
                <a:ea typeface="Arial" pitchFamily="34" charset="-122"/>
                <a:cs typeface="Arial" pitchFamily="34" charset="-120"/>
              </a:rPr>
              <a:t> and finds nobody.</a:t>
            </a:r>
            <a:endParaRPr lang="en-US" sz="1800" dirty="0"/>
          </a:p>
        </p:txBody>
      </p:sp>
      <p:sp>
        <p:nvSpPr>
          <p:cNvPr id="4" name="Text 2"/>
          <p:cNvSpPr/>
          <p:nvPr/>
        </p:nvSpPr>
        <p:spPr>
          <a:xfrm>
            <a:off x="812800" y="2476500"/>
            <a:ext cx="4800727" cy="6604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11111"/>
                </a:solidFill>
                <a:latin typeface="Arial" pitchFamily="34" charset="0"/>
                <a:ea typeface="Arial" pitchFamily="34" charset="-122"/>
                <a:cs typeface="Arial" pitchFamily="34" charset="-120"/>
              </a:rPr>
              <a:t>A missed yes (lost sale) is worse than a wasted call.</a:t>
            </a:r>
            <a:endParaRPr lang="en-US" sz="1800" dirty="0"/>
          </a:p>
        </p:txBody>
      </p:sp>
      <p:sp>
        <p:nvSpPr>
          <p:cNvPr id="5" name="Text 3"/>
          <p:cNvSpPr/>
          <p:nvPr/>
        </p:nvSpPr>
        <p:spPr>
          <a:xfrm>
            <a:off x="812800" y="3263900"/>
            <a:ext cx="4800727" cy="6604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11111"/>
                </a:solidFill>
                <a:latin typeface="Arial" pitchFamily="34" charset="0"/>
                <a:ea typeface="Arial" pitchFamily="34" charset="-122"/>
                <a:cs typeface="Arial" pitchFamily="34" charset="-120"/>
              </a:rPr>
              <a:t>So: </a:t>
            </a:r>
            <a:r>
              <a:rPr lang="en-US" sz="1800" b="1" dirty="0">
                <a:solidFill>
                  <a:srgbClr val="111111"/>
                </a:solidFill>
                <a:latin typeface="Arial" pitchFamily="34" charset="0"/>
                <a:ea typeface="Arial" pitchFamily="34" charset="-122"/>
                <a:cs typeface="Arial" pitchFamily="34" charset="-120"/>
              </a:rPr>
              <a:t>F1</a:t>
            </a:r>
            <a:r>
              <a:rPr lang="en-US" sz="1800" dirty="0">
                <a:solidFill>
                  <a:srgbClr val="111111"/>
                </a:solidFill>
                <a:latin typeface="Arial" pitchFamily="34" charset="0"/>
                <a:ea typeface="Arial" pitchFamily="34" charset="-122"/>
                <a:cs typeface="Arial" pitchFamily="34" charset="-120"/>
              </a:rPr>
              <a:t>, which is only high if the model finds the yes clients </a:t>
            </a:r>
            <a:r>
              <a:rPr lang="en-US" sz="1800" i="1" dirty="0">
                <a:solidFill>
                  <a:srgbClr val="111111"/>
                </a:solidFill>
                <a:latin typeface="Arial" pitchFamily="34" charset="0"/>
                <a:ea typeface="Arial" pitchFamily="34" charset="-122"/>
                <a:cs typeface="Arial" pitchFamily="34" charset="-120"/>
              </a:rPr>
              <a:t>and</a:t>
            </a:r>
            <a:r>
              <a:rPr lang="en-US" sz="1800" dirty="0">
                <a:solidFill>
                  <a:srgbClr val="111111"/>
                </a:solidFill>
                <a:latin typeface="Arial" pitchFamily="34" charset="0"/>
                <a:ea typeface="Arial" pitchFamily="34" charset="-122"/>
                <a:cs typeface="Arial" pitchFamily="34" charset="-120"/>
              </a:rPr>
              <a:t> is right when it calls.</a:t>
            </a:r>
            <a:endParaRPr lang="en-US" sz="1800" dirty="0"/>
          </a:p>
        </p:txBody>
      </p:sp>
      <p:sp>
        <p:nvSpPr>
          <p:cNvPr id="6" name="Shape 4"/>
          <p:cNvSpPr/>
          <p:nvPr/>
        </p:nvSpPr>
        <p:spPr>
          <a:xfrm>
            <a:off x="6089650" y="1695450"/>
            <a:ext cx="5283200" cy="2679700"/>
          </a:xfrm>
          <a:prstGeom prst="rect">
            <a:avLst/>
          </a:prstGeom>
          <a:noFill/>
          <a:ln w="12700">
            <a:solidFill>
              <a:srgbClr val="111111"/>
            </a:solidFill>
            <a:prstDash val="solid"/>
          </a:ln>
        </p:spPr>
      </p:sp>
      <p:sp>
        <p:nvSpPr>
          <p:cNvPr id="7" name="Text 5"/>
          <p:cNvSpPr/>
          <p:nvPr/>
        </p:nvSpPr>
        <p:spPr>
          <a:xfrm>
            <a:off x="6400800" y="2006600"/>
            <a:ext cx="4800727"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Arial" pitchFamily="34" charset="0"/>
                <a:ea typeface="Arial" pitchFamily="34" charset="-122"/>
                <a:cs typeface="Arial" pitchFamily="34" charset="-120"/>
              </a:rPr>
              <a:t>Baseline: call everyone</a:t>
            </a:r>
            <a:endParaRPr lang="en-US" sz="1600" dirty="0"/>
          </a:p>
        </p:txBody>
      </p:sp>
      <p:sp>
        <p:nvSpPr>
          <p:cNvPr id="8" name="Text 6"/>
          <p:cNvSpPr/>
          <p:nvPr/>
        </p:nvSpPr>
        <p:spPr>
          <a:xfrm>
            <a:off x="6400800" y="2387600"/>
            <a:ext cx="4800727"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111111"/>
                </a:solidFill>
                <a:latin typeface="Arial" pitchFamily="34" charset="0"/>
                <a:ea typeface="Arial" pitchFamily="34" charset="-122"/>
                <a:cs typeface="Arial" pitchFamily="34" charset="-120"/>
              </a:rPr>
              <a:t>0.203</a:t>
            </a:r>
            <a:endParaRPr lang="en-US" sz="8000" dirty="0"/>
          </a:p>
        </p:txBody>
      </p:sp>
      <p:sp>
        <p:nvSpPr>
          <p:cNvPr id="9" name="Text 7"/>
          <p:cNvSpPr/>
          <p:nvPr/>
        </p:nvSpPr>
        <p:spPr>
          <a:xfrm>
            <a:off x="6400800" y="3505200"/>
            <a:ext cx="4800727"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Arial" pitchFamily="34" charset="0"/>
                <a:ea typeface="Arial" pitchFamily="34" charset="-122"/>
                <a:cs typeface="Arial" pitchFamily="34" charset="-120"/>
              </a:rPr>
              <a:t>F1 to beat (finds every subscriber, but 89% of the calls are wasted)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4610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11111"/>
                </a:solidFill>
                <a:latin typeface="Arial" pitchFamily="34" charset="0"/>
                <a:ea typeface="Arial" pitchFamily="34" charset="-122"/>
                <a:cs typeface="Arial" pitchFamily="34" charset="-120"/>
              </a:rPr>
              <a:t>What I tried</a:t>
            </a:r>
            <a:endParaRPr lang="en-US" sz="3600" dirty="0"/>
          </a:p>
        </p:txBody>
      </p:sp>
      <p:sp>
        <p:nvSpPr>
          <p:cNvPr id="3" name="Text 1"/>
          <p:cNvSpPr/>
          <p:nvPr/>
        </p:nvSpPr>
        <p:spPr>
          <a:xfrm>
            <a:off x="812800" y="1587500"/>
            <a:ext cx="10883392" cy="5486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Arial" pitchFamily="34" charset="0"/>
                <a:ea typeface="Arial" pitchFamily="34" charset="-122"/>
                <a:cs typeface="Arial" pitchFamily="34" charset="-120"/>
              </a:rPr>
              <a:t>4 model families × 6 ways to handle the 11% yes (none, class weights, random oversampling, SMOTE, random undersampling, cluster centroids), same 5 folds, each at its best threshold. Best of each:</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86000"/>
          <a:ext cx="10552176" cy="2635448"/>
        </p:xfrm>
        <a:graphic>
          <a:graphicData uri="http://schemas.openxmlformats.org/drawingml/2006/table">
            <a:tbl>
              <a:tblPr/>
              <a:tblGrid>
                <a:gridCol w="3108960"/>
                <a:gridCol w="3108960"/>
                <a:gridCol w="2514600"/>
                <a:gridCol w="1819656"/>
              </a:tblGrid>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Model</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Imbalance handling</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F1 (mean ± spread)</a:t>
                      </a:r>
                      <a:endParaRPr lang="en-US" sz="1600" dirty="0">
                        <a:latin typeface="Arial" charset="0"/>
                        <a:ea typeface="Arial" charset="0"/>
                        <a:cs typeface="Arial" charset="0"/>
                      </a:endParaRPr>
                    </a:p>
                  </a:txBody>
                  <a:tcPr marL="71120" marR="71120" marT="71120" marB="7112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Recall</a:t>
                      </a:r>
                      <a:endParaRPr lang="en-US" sz="1600" dirty="0">
                        <a:latin typeface="Arial" charset="0"/>
                        <a:ea typeface="Arial" charset="0"/>
                        <a:cs typeface="Arial" charset="0"/>
                      </a:endParaRPr>
                    </a:p>
                  </a:txBody>
                  <a:tcPr marL="71120" marR="71120" marT="71120" marB="7112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Gradient boosting</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class weights</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0.499 ± 0.014</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57%</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Logistic regression</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random oversampling</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0.485 ± 0.012</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57%</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Random forest</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random undersampling</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0.466 ± 0.014</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50%</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Decision tree</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SMOTE</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0.338 ± 0.014</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37%</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Baseline: call everyone</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0.203</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100%</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166360"/>
            <a:ext cx="1088339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55555"/>
                </a:solidFill>
                <a:latin typeface="Arial" pitchFamily="34" charset="0"/>
                <a:ea typeface="Arial" pitchFamily="34" charset="-122"/>
                <a:cs typeface="Arial" pitchFamily="34" charset="-120"/>
              </a:rPr>
              <a:t>The model family matters, the imbalance method hardly does: once the threshold is moved, every method except cluster centroids lands within the fold spread. Tuning didn’t beat the default settings.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4610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11111"/>
                </a:solidFill>
                <a:latin typeface="Arial" pitchFamily="34" charset="0"/>
                <a:ea typeface="Arial" pitchFamily="34" charset="-122"/>
                <a:cs typeface="Arial" pitchFamily="34" charset="-120"/>
              </a:rPr>
              <a:t>Imbalance and the threshold</a:t>
            </a:r>
            <a:endParaRPr lang="en-US" sz="3600" dirty="0"/>
          </a:p>
        </p:txBody>
      </p:sp>
      <p:sp>
        <p:nvSpPr>
          <p:cNvPr id="3" name="Text 1"/>
          <p:cNvSpPr/>
          <p:nvPr/>
        </p:nvSpPr>
        <p:spPr>
          <a:xfrm>
            <a:off x="812800" y="1638300"/>
            <a:ext cx="10883392" cy="3429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11111"/>
                </a:solidFill>
                <a:latin typeface="Arial" pitchFamily="34" charset="0"/>
                <a:ea typeface="Arial" pitchFamily="34" charset="-122"/>
                <a:cs typeface="Arial" pitchFamily="34" charset="-120"/>
              </a:rPr>
              <a:t>Gradient boosting, cross-validated F1 for each way to handle the 11% yes:</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73300"/>
          <a:ext cx="10553700" cy="2688336"/>
        </p:xfrm>
        <a:graphic>
          <a:graphicData uri="http://schemas.openxmlformats.org/drawingml/2006/table">
            <a:tbl>
              <a:tblPr/>
              <a:tblGrid>
                <a:gridCol w="4221480"/>
                <a:gridCol w="3166110"/>
                <a:gridCol w="3166110"/>
              </a:tblGrid>
              <a:tr h="384048">
                <a:tc>
                  <a:txBody>
                    <a:bodyPr/>
                    <a:lstStyle/>
                    <a:p>
                      <a:pPr indent="0" marL="0">
                        <a:lnSpc>
                          <a:spcPts val="2520"/>
                        </a:lnSpc>
                        <a:buNone/>
                      </a:pPr>
                      <a:r>
                        <a:rPr lang="en-US" sz="1600" b="1" dirty="0">
                          <a:solidFill>
                            <a:srgbClr val="111111"/>
                          </a:solidFill>
                          <a:latin typeface="Arial" pitchFamily="34" charset="0"/>
                          <a:ea typeface="Arial" pitchFamily="34" charset="-122"/>
                          <a:cs typeface="Arial" pitchFamily="34" charset="-120"/>
                        </a:rPr>
                        <a:t>Method</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520"/>
                        </a:lnSpc>
                        <a:buNone/>
                      </a:pPr>
                      <a:r>
                        <a:rPr lang="en-US" sz="1600" b="1" dirty="0">
                          <a:solidFill>
                            <a:srgbClr val="111111"/>
                          </a:solidFill>
                          <a:latin typeface="Arial" pitchFamily="34" charset="0"/>
                          <a:ea typeface="Arial" pitchFamily="34" charset="-122"/>
                          <a:cs typeface="Arial" pitchFamily="34" charset="-120"/>
                        </a:rPr>
                        <a:t>at threshold 0.5</a:t>
                      </a:r>
                      <a:endParaRPr lang="en-US" sz="1800" dirty="0">
                        <a:latin typeface="Arial" charset="0"/>
                        <a:ea typeface="Arial" charset="0"/>
                        <a:cs typeface="Arial" charset="0"/>
                      </a:endParaRPr>
                    </a:p>
                  </a:txBody>
                  <a:tcPr marL="80010" marR="80010" marT="36576" marB="36576"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520"/>
                        </a:lnSpc>
                        <a:buNone/>
                      </a:pPr>
                      <a:r>
                        <a:rPr lang="en-US" sz="1600" b="1" dirty="0">
                          <a:solidFill>
                            <a:srgbClr val="111111"/>
                          </a:solidFill>
                          <a:latin typeface="Arial" pitchFamily="34" charset="0"/>
                          <a:ea typeface="Arial" pitchFamily="34" charset="-122"/>
                          <a:cs typeface="Arial" pitchFamily="34" charset="-120"/>
                        </a:rPr>
                        <a:t>at its best threshold</a:t>
                      </a:r>
                      <a:endParaRPr lang="en-US" sz="1800" dirty="0">
                        <a:latin typeface="Arial" charset="0"/>
                        <a:ea typeface="Arial" charset="0"/>
                        <a:cs typeface="Arial" charset="0"/>
                      </a:endParaRPr>
                    </a:p>
                  </a:txBody>
                  <a:tcPr marL="80010" marR="80010" marT="36576" marB="36576"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4048">
                <a:tc>
                  <a:txBody>
                    <a:bodyPr/>
                    <a:lstStyle/>
                    <a:p>
                      <a:pPr indent="0" marL="0">
                        <a:lnSpc>
                          <a:spcPts val="2520"/>
                        </a:lnSpc>
                        <a:buNone/>
                      </a:pPr>
                      <a:r>
                        <a:rPr lang="en-US" sz="1600" dirty="0">
                          <a:solidFill>
                            <a:srgbClr val="111111"/>
                          </a:solidFill>
                          <a:latin typeface="Arial" pitchFamily="34" charset="0"/>
                          <a:ea typeface="Arial" pitchFamily="34" charset="-122"/>
                          <a:cs typeface="Arial" pitchFamily="34" charset="-120"/>
                        </a:rPr>
                        <a:t>No handling</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0.365</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0.497</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048">
                <a:tc>
                  <a:txBody>
                    <a:bodyPr/>
                    <a:lstStyle/>
                    <a:p>
                      <a:pPr indent="0" marL="0">
                        <a:lnSpc>
                          <a:spcPts val="2520"/>
                        </a:lnSpc>
                        <a:buNone/>
                      </a:pPr>
                      <a:r>
                        <a:rPr lang="en-US" sz="1600" dirty="0">
                          <a:solidFill>
                            <a:srgbClr val="111111"/>
                          </a:solidFill>
                          <a:latin typeface="Arial" pitchFamily="34" charset="0"/>
                          <a:ea typeface="Arial" pitchFamily="34" charset="-122"/>
                          <a:cs typeface="Arial" pitchFamily="34" charset="-120"/>
                        </a:rPr>
                        <a:t>Class weights</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0.475</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0.499</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048">
                <a:tc>
                  <a:txBody>
                    <a:bodyPr/>
                    <a:lstStyle/>
                    <a:p>
                      <a:pPr indent="0" marL="0">
                        <a:lnSpc>
                          <a:spcPts val="2520"/>
                        </a:lnSpc>
                        <a:buNone/>
                      </a:pPr>
                      <a:r>
                        <a:rPr lang="en-US" sz="1600" dirty="0">
                          <a:solidFill>
                            <a:srgbClr val="111111"/>
                          </a:solidFill>
                          <a:latin typeface="Arial" pitchFamily="34" charset="0"/>
                          <a:ea typeface="Arial" pitchFamily="34" charset="-122"/>
                          <a:cs typeface="Arial" pitchFamily="34" charset="-120"/>
                        </a:rPr>
                        <a:t>Random oversampling</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0.469</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0.497</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048">
                <a:tc>
                  <a:txBody>
                    <a:bodyPr/>
                    <a:lstStyle/>
                    <a:p>
                      <a:pPr indent="0" marL="0">
                        <a:lnSpc>
                          <a:spcPts val="2520"/>
                        </a:lnSpc>
                        <a:buNone/>
                      </a:pPr>
                      <a:r>
                        <a:rPr lang="en-US" sz="1600" dirty="0">
                          <a:solidFill>
                            <a:srgbClr val="111111"/>
                          </a:solidFill>
                          <a:latin typeface="Arial" pitchFamily="34" charset="0"/>
                          <a:ea typeface="Arial" pitchFamily="34" charset="-122"/>
                          <a:cs typeface="Arial" pitchFamily="34" charset="-120"/>
                        </a:rPr>
                        <a:t>SMOTE</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0.426</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0.494</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048">
                <a:tc>
                  <a:txBody>
                    <a:bodyPr/>
                    <a:lstStyle/>
                    <a:p>
                      <a:pPr indent="0" marL="0">
                        <a:lnSpc>
                          <a:spcPts val="2520"/>
                        </a:lnSpc>
                        <a:buNone/>
                      </a:pPr>
                      <a:r>
                        <a:rPr lang="en-US" sz="1600" dirty="0">
                          <a:solidFill>
                            <a:srgbClr val="111111"/>
                          </a:solidFill>
                          <a:latin typeface="Arial" pitchFamily="34" charset="0"/>
                          <a:ea typeface="Arial" pitchFamily="34" charset="-122"/>
                          <a:cs typeface="Arial" pitchFamily="34" charset="-120"/>
                        </a:rPr>
                        <a:t>Random undersampling</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0.440</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0.490</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048">
                <a:tc>
                  <a:txBody>
                    <a:bodyPr/>
                    <a:lstStyle/>
                    <a:p>
                      <a:pPr indent="0" marL="0">
                        <a:lnSpc>
                          <a:spcPts val="2520"/>
                        </a:lnSpc>
                        <a:buNone/>
                      </a:pPr>
                      <a:r>
                        <a:rPr lang="en-US" sz="1600" dirty="0">
                          <a:solidFill>
                            <a:srgbClr val="111111"/>
                          </a:solidFill>
                          <a:latin typeface="Arial" pitchFamily="34" charset="0"/>
                          <a:ea typeface="Arial" pitchFamily="34" charset="-122"/>
                          <a:cs typeface="Arial" pitchFamily="34" charset="-120"/>
                        </a:rPr>
                        <a:t>Cluster centroids</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0.203</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520"/>
                        </a:lnSpc>
                        <a:buNone/>
                      </a:pPr>
                      <a:r>
                        <a:rPr lang="en-US" sz="1600" dirty="0">
                          <a:solidFill>
                            <a:srgbClr val="111111"/>
                          </a:solidFill>
                          <a:latin typeface="Arial" pitchFamily="34" charset="0"/>
                          <a:ea typeface="Arial" pitchFamily="34" charset="-122"/>
                          <a:cs typeface="Arial" pitchFamily="34" charset="-120"/>
                        </a:rPr>
                        <a:t>0.209</a:t>
                      </a:r>
                      <a:endParaRPr lang="en-US" sz="1800" dirty="0">
                        <a:latin typeface="Arial" charset="0"/>
                        <a:ea typeface="Arial" charset="0"/>
                        <a:cs typeface="Arial" charset="0"/>
                      </a:endParaRPr>
                    </a:p>
                  </a:txBody>
                  <a:tcPr marL="80010" marR="80010" marT="36576" marB="3657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257800"/>
            <a:ext cx="10883392" cy="660400"/>
          </a:xfrm>
          <a:prstGeom prst="rect">
            <a:avLst/>
          </a:prstGeom>
          <a:noFill/>
          <a:ln/>
        </p:spPr>
        <p:txBody>
          <a:bodyPr wrap="square" lIns="0" tIns="0" rIns="0" bIns="0" rtlCol="0" anchor="t">
            <a:normAutofit/>
          </a:bodyPr>
          <a:lstStyle/>
          <a:p>
            <a:pPr algn="l" indent="0" marL="0">
              <a:lnSpc>
                <a:spcPts val="2520"/>
              </a:lnSpc>
              <a:buNone/>
            </a:pPr>
            <a:r>
              <a:rPr lang="en-US" sz="1800" dirty="0" b="1">
                <a:solidFill>
                  <a:srgbClr val="111111"/>
                </a:solidFill>
                <a:latin typeface="Arial" pitchFamily="34" charset="0"/>
                <a:ea typeface="Arial" pitchFamily="34" charset="-122"/>
                <a:cs typeface="Arial" pitchFamily="34" charset="-120"/>
              </a:rPr>
              <a:t>Don’t leave the threshold at 0.5.</a:t>
            </a:r>
            <a:r>
              <a:rPr lang="en-US" sz="1800" dirty="0">
                <a:solidFill>
                  <a:srgbClr val="111111"/>
                </a:solidFill>
                <a:latin typeface="Arial" pitchFamily="34" charset="0"/>
                <a:ea typeface="Arial" pitchFamily="34" charset="-122"/>
                <a:cs typeface="Arial" pitchFamily="34" charset="-120"/>
              </a:rPr>
              <a:t> F1 is best at 0.65. A missed yes costs more than a wasted call, so I went one step lower to </a:t>
            </a:r>
            <a:r>
              <a:rPr lang="en-US" sz="1800" dirty="0" b="1">
                <a:solidFill>
                  <a:srgbClr val="111111"/>
                </a:solidFill>
                <a:latin typeface="Arial" pitchFamily="34" charset="0"/>
                <a:ea typeface="Arial" pitchFamily="34" charset="-122"/>
                <a:cs typeface="Arial" pitchFamily="34" charset="-120"/>
              </a:rPr>
              <a:t>0.60</a:t>
            </a:r>
            <a:r>
              <a:rPr lang="en-US" sz="1800" dirty="0">
                <a:solidFill>
                  <a:srgbClr val="111111"/>
                </a:solidFill>
                <a:latin typeface="Arial" pitchFamily="34" charset="0"/>
                <a:ea typeface="Arial" pitchFamily="34" charset="-122"/>
                <a:cs typeface="Arial" pitchFamily="34" charset="-120"/>
              </a:rPr>
              <a:t>: it finds more subscribers, and F1 stays just as good.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4610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11111"/>
                </a:solidFill>
                <a:latin typeface="Arial" pitchFamily="34" charset="0"/>
                <a:ea typeface="Arial" pitchFamily="34" charset="-122"/>
                <a:cs typeface="Arial" pitchFamily="34" charset="-120"/>
              </a:rPr>
              <a:t>The final model on the test set</a:t>
            </a:r>
            <a:endParaRPr lang="en-US" sz="3600" dirty="0"/>
          </a:p>
        </p:txBody>
      </p:sp>
      <p:sp>
        <p:nvSpPr>
          <p:cNvPr id="3" name="Shape 1"/>
          <p:cNvSpPr/>
          <p:nvPr/>
        </p:nvSpPr>
        <p:spPr>
          <a:xfrm>
            <a:off x="819150" y="1746250"/>
            <a:ext cx="3306266" cy="2197100"/>
          </a:xfrm>
          <a:prstGeom prst="rect">
            <a:avLst/>
          </a:prstGeom>
          <a:noFill/>
          <a:ln w="12700">
            <a:solidFill>
              <a:srgbClr val="111111"/>
            </a:solidFill>
            <a:prstDash val="solid"/>
          </a:ln>
        </p:spPr>
      </p:sp>
      <p:sp>
        <p:nvSpPr>
          <p:cNvPr id="4" name="Text 2"/>
          <p:cNvSpPr/>
          <p:nvPr/>
        </p:nvSpPr>
        <p:spPr>
          <a:xfrm>
            <a:off x="1130300" y="2057400"/>
            <a:ext cx="2764485"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Arial" pitchFamily="34" charset="0"/>
                <a:ea typeface="Arial" pitchFamily="34" charset="-122"/>
                <a:cs typeface="Arial" pitchFamily="34" charset="-120"/>
              </a:rPr>
              <a:t>Test set (used once)</a:t>
            </a:r>
            <a:endParaRPr lang="en-US" sz="1600" dirty="0"/>
          </a:p>
        </p:txBody>
      </p:sp>
      <p:sp>
        <p:nvSpPr>
          <p:cNvPr id="5" name="Text 3"/>
          <p:cNvSpPr/>
          <p:nvPr/>
        </p:nvSpPr>
        <p:spPr>
          <a:xfrm>
            <a:off x="1130300" y="2438400"/>
            <a:ext cx="2764485" cy="838200"/>
          </a:xfrm>
          <a:prstGeom prst="rect">
            <a:avLst/>
          </a:prstGeom>
          <a:noFill/>
          <a:ln/>
        </p:spPr>
        <p:txBody>
          <a:bodyPr wrap="square" lIns="0" tIns="0" rIns="0" bIns="0" rtlCol="0" anchor="t">
            <a:normAutofit/>
          </a:bodyPr>
          <a:lstStyle/>
          <a:p>
            <a:pPr algn="l" indent="0" marL="0">
              <a:lnSpc>
                <a:spcPts val="6400"/>
              </a:lnSpc>
              <a:buNone/>
            </a:pPr>
            <a:r>
              <a:rPr lang="en-US" sz="6400" b="1" dirty="0">
                <a:solidFill>
                  <a:srgbClr val="111111"/>
                </a:solidFill>
                <a:latin typeface="Arial" pitchFamily="34" charset="0"/>
                <a:ea typeface="Arial" pitchFamily="34" charset="-122"/>
                <a:cs typeface="Arial" pitchFamily="34" charset="-120"/>
              </a:rPr>
              <a:t>0.519</a:t>
            </a:r>
            <a:endParaRPr lang="en-US" sz="6400" dirty="0"/>
          </a:p>
        </p:txBody>
      </p:sp>
      <p:sp>
        <p:nvSpPr>
          <p:cNvPr id="6" name="Text 4"/>
          <p:cNvSpPr/>
          <p:nvPr/>
        </p:nvSpPr>
        <p:spPr>
          <a:xfrm>
            <a:off x="1130300" y="3352800"/>
            <a:ext cx="2764485"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Arial" pitchFamily="34" charset="0"/>
                <a:ea typeface="Arial" pitchFamily="34" charset="-122"/>
                <a:cs typeface="Arial" pitchFamily="34" charset="-120"/>
              </a:rPr>
              <a:t>F1</a:t>
            </a:r>
            <a:endParaRPr lang="en-US" sz="1600" dirty="0"/>
          </a:p>
        </p:txBody>
      </p:sp>
      <p:sp>
        <p:nvSpPr>
          <p:cNvPr id="7" name="Shape 5"/>
          <p:cNvSpPr/>
          <p:nvPr/>
        </p:nvSpPr>
        <p:spPr>
          <a:xfrm>
            <a:off x="4442916" y="1746250"/>
            <a:ext cx="3306266" cy="2197100"/>
          </a:xfrm>
          <a:prstGeom prst="rect">
            <a:avLst/>
          </a:prstGeom>
          <a:noFill/>
          <a:ln w="12700">
            <a:solidFill>
              <a:srgbClr val="BBBBBB"/>
            </a:solidFill>
            <a:prstDash val="solid"/>
          </a:ln>
        </p:spPr>
      </p:sp>
      <p:sp>
        <p:nvSpPr>
          <p:cNvPr id="8" name="Text 6"/>
          <p:cNvSpPr/>
          <p:nvPr/>
        </p:nvSpPr>
        <p:spPr>
          <a:xfrm>
            <a:off x="4754066" y="2057400"/>
            <a:ext cx="2764485"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Arial" pitchFamily="34" charset="0"/>
                <a:ea typeface="Arial" pitchFamily="34" charset="-122"/>
                <a:cs typeface="Arial" pitchFamily="34" charset="-120"/>
              </a:rPr>
              <a:t>Cross-validation</a:t>
            </a:r>
            <a:endParaRPr lang="en-US" sz="1600" dirty="0"/>
          </a:p>
        </p:txBody>
      </p:sp>
      <p:sp>
        <p:nvSpPr>
          <p:cNvPr id="9" name="Text 7"/>
          <p:cNvSpPr/>
          <p:nvPr/>
        </p:nvSpPr>
        <p:spPr>
          <a:xfrm>
            <a:off x="4754066" y="2438400"/>
            <a:ext cx="2764485" cy="838200"/>
          </a:xfrm>
          <a:prstGeom prst="rect">
            <a:avLst/>
          </a:prstGeom>
          <a:noFill/>
          <a:ln/>
        </p:spPr>
        <p:txBody>
          <a:bodyPr wrap="square" lIns="0" tIns="0" rIns="0" bIns="0" rtlCol="0" anchor="t">
            <a:normAutofit/>
          </a:bodyPr>
          <a:lstStyle/>
          <a:p>
            <a:pPr algn="l" indent="0" marL="0">
              <a:lnSpc>
                <a:spcPts val="6400"/>
              </a:lnSpc>
              <a:buNone/>
            </a:pPr>
            <a:r>
              <a:rPr lang="en-US" sz="6400" b="1" dirty="0">
                <a:solidFill>
                  <a:srgbClr val="111111"/>
                </a:solidFill>
                <a:latin typeface="Arial" pitchFamily="34" charset="0"/>
                <a:ea typeface="Arial" pitchFamily="34" charset="-122"/>
                <a:cs typeface="Arial" pitchFamily="34" charset="-120"/>
              </a:rPr>
              <a:t>0.496</a:t>
            </a:r>
            <a:endParaRPr lang="en-US" sz="6400" dirty="0"/>
          </a:p>
        </p:txBody>
      </p:sp>
      <p:sp>
        <p:nvSpPr>
          <p:cNvPr id="10" name="Text 8"/>
          <p:cNvSpPr/>
          <p:nvPr/>
        </p:nvSpPr>
        <p:spPr>
          <a:xfrm>
            <a:off x="4754066" y="3352800"/>
            <a:ext cx="2764485"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Arial" pitchFamily="34" charset="0"/>
                <a:ea typeface="Arial" pitchFamily="34" charset="-122"/>
                <a:cs typeface="Arial" pitchFamily="34" charset="-120"/>
              </a:rPr>
              <a:t>± 0.012 across folds</a:t>
            </a:r>
            <a:endParaRPr lang="en-US" sz="1600" dirty="0"/>
          </a:p>
        </p:txBody>
      </p:sp>
      <p:sp>
        <p:nvSpPr>
          <p:cNvPr id="11" name="Shape 9"/>
          <p:cNvSpPr/>
          <p:nvPr/>
        </p:nvSpPr>
        <p:spPr>
          <a:xfrm>
            <a:off x="8066683" y="1746250"/>
            <a:ext cx="3306266" cy="2197100"/>
          </a:xfrm>
          <a:prstGeom prst="rect">
            <a:avLst/>
          </a:prstGeom>
          <a:noFill/>
          <a:ln w="12700">
            <a:solidFill>
              <a:srgbClr val="BBBBBB"/>
            </a:solidFill>
            <a:prstDash val="solid"/>
          </a:ln>
        </p:spPr>
      </p:sp>
      <p:sp>
        <p:nvSpPr>
          <p:cNvPr id="12" name="Text 10"/>
          <p:cNvSpPr/>
          <p:nvPr/>
        </p:nvSpPr>
        <p:spPr>
          <a:xfrm>
            <a:off x="8377833" y="2057400"/>
            <a:ext cx="2764485"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Arial" pitchFamily="34" charset="0"/>
                <a:ea typeface="Arial" pitchFamily="34" charset="-122"/>
                <a:cs typeface="Arial" pitchFamily="34" charset="-120"/>
              </a:rPr>
              <a:t>Baseline (call everyone)</a:t>
            </a:r>
            <a:endParaRPr lang="en-US" sz="1600" dirty="0"/>
          </a:p>
        </p:txBody>
      </p:sp>
      <p:sp>
        <p:nvSpPr>
          <p:cNvPr id="13" name="Text 11"/>
          <p:cNvSpPr/>
          <p:nvPr/>
        </p:nvSpPr>
        <p:spPr>
          <a:xfrm>
            <a:off x="8377833" y="2438400"/>
            <a:ext cx="2764485" cy="838200"/>
          </a:xfrm>
          <a:prstGeom prst="rect">
            <a:avLst/>
          </a:prstGeom>
          <a:noFill/>
          <a:ln/>
        </p:spPr>
        <p:txBody>
          <a:bodyPr wrap="square" lIns="0" tIns="0" rIns="0" bIns="0" rtlCol="0" anchor="t">
            <a:normAutofit/>
          </a:bodyPr>
          <a:lstStyle/>
          <a:p>
            <a:pPr algn="l" indent="0" marL="0">
              <a:lnSpc>
                <a:spcPts val="6400"/>
              </a:lnSpc>
              <a:buNone/>
            </a:pPr>
            <a:r>
              <a:rPr lang="en-US" sz="6400" b="1" dirty="0">
                <a:solidFill>
                  <a:srgbClr val="111111"/>
                </a:solidFill>
                <a:latin typeface="Arial" pitchFamily="34" charset="0"/>
                <a:ea typeface="Arial" pitchFamily="34" charset="-122"/>
                <a:cs typeface="Arial" pitchFamily="34" charset="-120"/>
              </a:rPr>
              <a:t>0.203</a:t>
            </a:r>
            <a:endParaRPr lang="en-US" sz="6400" dirty="0"/>
          </a:p>
        </p:txBody>
      </p:sp>
      <p:sp>
        <p:nvSpPr>
          <p:cNvPr id="14" name="Text 12"/>
          <p:cNvSpPr/>
          <p:nvPr/>
        </p:nvSpPr>
        <p:spPr>
          <a:xfrm>
            <a:off x="8377833" y="3352800"/>
            <a:ext cx="2764485"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Arial" pitchFamily="34" charset="0"/>
                <a:ea typeface="Arial" pitchFamily="34" charset="-122"/>
                <a:cs typeface="Arial" pitchFamily="34" charset="-120"/>
              </a:rPr>
              <a:t>F1</a:t>
            </a:r>
            <a:endParaRPr lang="en-US" sz="1600" dirty="0"/>
          </a:p>
        </p:txBody>
      </p:sp>
      <p:sp>
        <p:nvSpPr>
          <p:cNvPr id="15" name="Text 13"/>
          <p:cNvSpPr/>
          <p:nvPr/>
        </p:nvSpPr>
        <p:spPr>
          <a:xfrm>
            <a:off x="812800" y="4356100"/>
            <a:ext cx="10883392" cy="77724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111111"/>
                </a:solidFill>
                <a:latin typeface="Arial" pitchFamily="34" charset="0"/>
                <a:ea typeface="Arial" pitchFamily="34" charset="-122"/>
                <a:cs typeface="Arial" pitchFamily="34" charset="-120"/>
              </a:rPr>
              <a:t>With </a:t>
            </a:r>
            <a:r>
              <a:rPr lang="en-US" sz="2200" b="1" dirty="0">
                <a:solidFill>
                  <a:srgbClr val="111111"/>
                </a:solidFill>
                <a:latin typeface="Arial" pitchFamily="34" charset="0"/>
                <a:ea typeface="Arial" pitchFamily="34" charset="-122"/>
                <a:cs typeface="Arial" pitchFamily="34" charset="-120"/>
              </a:rPr>
              <a:t>15% of the calls</a:t>
            </a:r>
            <a:r>
              <a:rPr lang="en-US" sz="2200" dirty="0">
                <a:solidFill>
                  <a:srgbClr val="111111"/>
                </a:solidFill>
                <a:latin typeface="Arial" pitchFamily="34" charset="0"/>
                <a:ea typeface="Arial" pitchFamily="34" charset="-122"/>
                <a:cs typeface="Arial" pitchFamily="34" charset="-120"/>
              </a:rPr>
              <a:t> the model reaches </a:t>
            </a:r>
            <a:r>
              <a:rPr lang="en-US" sz="2200" b="1" dirty="0">
                <a:solidFill>
                  <a:srgbClr val="111111"/>
                </a:solidFill>
                <a:latin typeface="Arial" pitchFamily="34" charset="0"/>
                <a:ea typeface="Arial" pitchFamily="34" charset="-122"/>
                <a:cs typeface="Arial" pitchFamily="34" charset="-120"/>
              </a:rPr>
              <a:t>61% of the subscribers</a:t>
            </a:r>
            <a:r>
              <a:rPr lang="en-US" sz="2200" dirty="0">
                <a:solidFill>
                  <a:srgbClr val="111111"/>
                </a:solidFill>
                <a:latin typeface="Arial" pitchFamily="34" charset="0"/>
                <a:ea typeface="Arial" pitchFamily="34" charset="-122"/>
                <a:cs typeface="Arial" pitchFamily="34" charset="-120"/>
              </a:rPr>
              <a:t>. Calling everyone: 100% of the calls, and 89% of them are wasted.</a:t>
            </a:r>
            <a:endParaRPr lang="en-US" sz="2200" dirty="0"/>
          </a:p>
        </p:txBody>
      </p:sp>
      <p:sp>
        <p:nvSpPr>
          <p:cNvPr id="16" name="Text 14"/>
          <p:cNvSpPr/>
          <p:nvPr/>
        </p:nvSpPr>
        <p:spPr>
          <a:xfrm>
            <a:off x="812800" y="5349240"/>
            <a:ext cx="10883392" cy="685800"/>
          </a:xfrm>
          <a:prstGeom prst="rect">
            <a:avLst/>
          </a:prstGeom>
          <a:noFill/>
          <a:ln/>
        </p:spPr>
        <p:txBody>
          <a:bodyPr wrap="square" lIns="0" tIns="0" rIns="0" bIns="0" rtlCol="0" anchor="t">
            <a:normAutofit/>
          </a:bodyPr>
          <a:lstStyle/>
          <a:p>
            <a:pPr algn="l" indent="0" marL="0">
              <a:lnSpc>
                <a:spcPts val="2970"/>
              </a:lnSpc>
              <a:buNone/>
            </a:pPr>
            <a:r>
              <a:rPr lang="en-US" sz="1600" dirty="0">
                <a:solidFill>
                  <a:srgbClr val="555555"/>
                </a:solidFill>
                <a:latin typeface="Arial" pitchFamily="34" charset="0"/>
                <a:ea typeface="Arial" pitchFamily="34" charset="-122"/>
                <a:cs typeface="Arial" pitchFamily="34" charset="-120"/>
              </a:rPr>
              <a:t>How: the test set has 8,236 clients, 928 of them subscribers. The model calls 1,248 of them (15%), and 565 of those subscribe: 565 / 928 = 61%. Calling everyone, only 11.3% say yes, so 89% of the calls are wasted.</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4610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11111"/>
                </a:solidFill>
                <a:latin typeface="Arial" pitchFamily="34" charset="0"/>
                <a:ea typeface="Arial" pitchFamily="34" charset="-122"/>
                <a:cs typeface="Arial" pitchFamily="34" charset="-120"/>
              </a:rPr>
              <a:t>Where it goes wrong</a:t>
            </a:r>
            <a:endParaRPr lang="en-US" sz="3600" dirty="0"/>
          </a:p>
        </p:txBody>
      </p:sp>
      <p:sp>
        <p:nvSpPr>
          <p:cNvPr id="3" name="Text 1"/>
          <p:cNvSpPr/>
          <p:nvPr/>
        </p:nvSpPr>
        <p:spPr>
          <a:xfrm>
            <a:off x="812800" y="1638300"/>
            <a:ext cx="10883392" cy="6604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11111"/>
                </a:solidFill>
                <a:latin typeface="Arial" pitchFamily="34" charset="0"/>
                <a:ea typeface="Arial" pitchFamily="34" charset="-122"/>
                <a:cs typeface="Arial" pitchFamily="34" charset="-120"/>
              </a:rPr>
              <a:t>The model mostly recognises </a:t>
            </a:r>
            <a:r>
              <a:rPr lang="en-US" sz="1800" b="1" dirty="0">
                <a:solidFill>
                  <a:srgbClr val="111111"/>
                </a:solidFill>
                <a:latin typeface="Arial" pitchFamily="34" charset="0"/>
                <a:ea typeface="Arial" pitchFamily="34" charset="-122"/>
                <a:cs typeface="Arial" pitchFamily="34" charset="-120"/>
              </a:rPr>
              <a:t>the time period</a:t>
            </a:r>
            <a:r>
              <a:rPr lang="en-US" sz="1800" dirty="0">
                <a:solidFill>
                  <a:srgbClr val="111111"/>
                </a:solidFill>
                <a:latin typeface="Arial" pitchFamily="34" charset="0"/>
                <a:ea typeface="Arial" pitchFamily="34" charset="-122"/>
                <a:cs typeface="Arial" pitchFamily="34" charset="-120"/>
              </a:rPr>
              <a:t>, not the client. Test set, grouped by the economy at the time of the call:</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590800"/>
          <a:ext cx="10553700" cy="1756966"/>
        </p:xfrm>
        <a:graphic>
          <a:graphicData uri="http://schemas.openxmlformats.org/drawingml/2006/table">
            <a:tbl>
              <a:tblPr/>
              <a:tblGrid>
                <a:gridCol w="4221480"/>
                <a:gridCol w="1583055"/>
                <a:gridCol w="1583055"/>
                <a:gridCol w="1583055"/>
                <a:gridCol w="1583055"/>
              </a:tblGrid>
              <a:tr h="439241">
                <a:tc>
                  <a:txBody>
                    <a:bodyPr/>
                    <a:lstStyle/>
                    <a:p>
                      <a:pPr indent="0" marL="0">
                        <a:lnSpc>
                          <a:spcPts val="2240"/>
                        </a:lnSpc>
                        <a:buNone/>
                      </a:pPr>
                      <a:r>
                        <a:rPr lang="en-US" sz="1600" b="1" dirty="0">
                          <a:solidFill>
                            <a:srgbClr val="111111"/>
                          </a:solidFill>
                          <a:latin typeface="Arial" pitchFamily="34" charset="0"/>
                          <a:ea typeface="Arial" pitchFamily="34" charset="-122"/>
                          <a:cs typeface="Arial" pitchFamily="34" charset="-120"/>
                        </a:rPr>
                        <a:t>Period (nr.employed)</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240"/>
                        </a:lnSpc>
                        <a:buNone/>
                      </a:pPr>
                      <a:r>
                        <a:rPr lang="en-US" sz="1600" b="1" dirty="0">
                          <a:solidFill>
                            <a:srgbClr val="111111"/>
                          </a:solidFill>
                          <a:latin typeface="Arial" pitchFamily="34" charset="0"/>
                          <a:ea typeface="Arial" pitchFamily="34" charset="-122"/>
                          <a:cs typeface="Arial" pitchFamily="34" charset="-120"/>
                        </a:rPr>
                        <a:t>Clients</a:t>
                      </a:r>
                      <a:endParaRPr lang="en-US" sz="1600" dirty="0">
                        <a:latin typeface="Arial" charset="0"/>
                        <a:ea typeface="Arial" charset="0"/>
                        <a:cs typeface="Arial" charset="0"/>
                      </a:endParaRPr>
                    </a:p>
                  </a:txBody>
                  <a:tcPr marL="71120" marR="71120" marT="71120" marB="7112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240"/>
                        </a:lnSpc>
                        <a:buNone/>
                      </a:pPr>
                      <a:r>
                        <a:rPr lang="en-US" sz="1600" b="1" dirty="0">
                          <a:solidFill>
                            <a:srgbClr val="111111"/>
                          </a:solidFill>
                          <a:latin typeface="Arial" pitchFamily="34" charset="0"/>
                          <a:ea typeface="Arial" pitchFamily="34" charset="-122"/>
                          <a:cs typeface="Arial" pitchFamily="34" charset="-120"/>
                        </a:rPr>
                        <a:t>Said yes</a:t>
                      </a:r>
                      <a:endParaRPr lang="en-US" sz="1600" dirty="0">
                        <a:latin typeface="Arial" charset="0"/>
                        <a:ea typeface="Arial" charset="0"/>
                        <a:cs typeface="Arial" charset="0"/>
                      </a:endParaRPr>
                    </a:p>
                  </a:txBody>
                  <a:tcPr marL="71120" marR="71120" marT="71120" marB="7112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240"/>
                        </a:lnSpc>
                        <a:buNone/>
                      </a:pPr>
                      <a:r>
                        <a:rPr lang="en-US" sz="1600" b="1" dirty="0">
                          <a:solidFill>
                            <a:srgbClr val="111111"/>
                          </a:solidFill>
                          <a:latin typeface="Arial" pitchFamily="34" charset="0"/>
                          <a:ea typeface="Arial" pitchFamily="34" charset="-122"/>
                          <a:cs typeface="Arial" pitchFamily="34" charset="-120"/>
                        </a:rPr>
                        <a:t>Called</a:t>
                      </a:r>
                      <a:endParaRPr lang="en-US" sz="1600" dirty="0">
                        <a:latin typeface="Arial" charset="0"/>
                        <a:ea typeface="Arial" charset="0"/>
                        <a:cs typeface="Arial" charset="0"/>
                      </a:endParaRPr>
                    </a:p>
                  </a:txBody>
                  <a:tcPr marL="71120" marR="71120" marT="71120" marB="7112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240"/>
                        </a:lnSpc>
                        <a:buNone/>
                      </a:pPr>
                      <a:r>
                        <a:rPr lang="en-US" sz="1600" b="1" dirty="0">
                          <a:solidFill>
                            <a:srgbClr val="111111"/>
                          </a:solidFill>
                          <a:latin typeface="Arial" pitchFamily="34" charset="0"/>
                          <a:ea typeface="Arial" pitchFamily="34" charset="-122"/>
                          <a:cs typeface="Arial" pitchFamily="34" charset="-120"/>
                        </a:rPr>
                        <a:t>Found</a:t>
                      </a:r>
                      <a:endParaRPr lang="en-US" sz="1600" dirty="0">
                        <a:latin typeface="Arial" charset="0"/>
                        <a:ea typeface="Arial" charset="0"/>
                        <a:cs typeface="Arial" charset="0"/>
                      </a:endParaRPr>
                    </a:p>
                  </a:txBody>
                  <a:tcPr marL="71120" marR="71120" marT="71120" marB="7112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Worse economy (≤ 5076)</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975</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46%</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96%</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98%</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Middle (5099)</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1,695</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14%</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17%</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50%</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Better economy (5191–5228)</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5,564</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4.5%</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0.4%</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4%</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652566"/>
            <a:ext cx="10883392" cy="3429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11111"/>
                </a:solidFill>
                <a:latin typeface="Arial" pitchFamily="34" charset="0"/>
                <a:ea typeface="Arial" pitchFamily="34" charset="-122"/>
                <a:cs typeface="Arial" pitchFamily="34" charset="-120"/>
              </a:rPr>
              <a:t>Also weak: landline clients (finds 33%) and clients never contacted before (finds 48%).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4610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11111"/>
                </a:solidFill>
                <a:latin typeface="Arial" pitchFamily="34" charset="0"/>
                <a:ea typeface="Arial" pitchFamily="34" charset="-122"/>
                <a:cs typeface="Arial" pitchFamily="34" charset="-120"/>
              </a:rPr>
              <a:t>What drives it</a:t>
            </a:r>
            <a:endParaRPr lang="en-US" sz="3600" dirty="0"/>
          </a:p>
        </p:txBody>
      </p:sp>
      <p:sp>
        <p:nvSpPr>
          <p:cNvPr id="3" name="Text 1"/>
          <p:cNvSpPr/>
          <p:nvPr/>
        </p:nvSpPr>
        <p:spPr>
          <a:xfrm>
            <a:off x="812800" y="1689100"/>
            <a:ext cx="558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111"/>
                </a:solidFill>
                <a:latin typeface="Arial" pitchFamily="34" charset="0"/>
                <a:ea typeface="Arial" pitchFamily="34" charset="-122"/>
                <a:cs typeface="Arial" pitchFamily="34" charset="-120"/>
              </a:rPr>
              <a:t>Permutation importance (drop in test F1)</a:t>
            </a:r>
            <a:endParaRPr lang="en-US" sz="2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59000"/>
          <a:ext cx="4965700" cy="2635448"/>
        </p:xfrm>
        <a:graphic>
          <a:graphicData uri="http://schemas.openxmlformats.org/drawingml/2006/table">
            <a:tbl>
              <a:tblPr/>
              <a:tblGrid>
                <a:gridCol w="3227705"/>
                <a:gridCol w="1737995"/>
              </a:tblGrid>
              <a:tr h="439241">
                <a:tc>
                  <a:txBody>
                    <a:bodyPr/>
                    <a:lstStyle/>
                    <a:p>
                      <a:pPr indent="0" marL="0">
                        <a:lnSpc>
                          <a:spcPts val="2240"/>
                        </a:lnSpc>
                        <a:buNone/>
                      </a:pPr>
                      <a:r>
                        <a:rPr lang="en-US" sz="1600" b="1" dirty="0">
                          <a:solidFill>
                            <a:srgbClr val="111111"/>
                          </a:solidFill>
                          <a:latin typeface="Arial" pitchFamily="34" charset="0"/>
                          <a:ea typeface="Arial" pitchFamily="34" charset="-122"/>
                          <a:cs typeface="Arial" pitchFamily="34" charset="-120"/>
                        </a:rPr>
                        <a:t>Column</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240"/>
                        </a:lnSpc>
                        <a:buNone/>
                      </a:pPr>
                      <a:r>
                        <a:rPr lang="en-US" sz="1600" b="1" dirty="0">
                          <a:solidFill>
                            <a:srgbClr val="111111"/>
                          </a:solidFill>
                          <a:latin typeface="Arial" pitchFamily="34" charset="0"/>
                          <a:ea typeface="Arial" pitchFamily="34" charset="-122"/>
                          <a:cs typeface="Arial" pitchFamily="34" charset="-120"/>
                        </a:rPr>
                        <a:t>Drop</a:t>
                      </a:r>
                      <a:endParaRPr lang="en-US" sz="1600" dirty="0">
                        <a:latin typeface="Arial" charset="0"/>
                        <a:ea typeface="Arial" charset="0"/>
                        <a:cs typeface="Arial" charset="0"/>
                      </a:endParaRPr>
                    </a:p>
                  </a:txBody>
                  <a:tcPr marL="71120" marR="71120" marT="71120" marB="7112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nr.employed (economy)</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0.23</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cons.conf.idx (economy)</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0.05</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poutcome (last campaign)</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0.02</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euribor3m (economy)</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0.02</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241">
                <a:tc>
                  <a:txBody>
                    <a:bodyPr/>
                    <a:lstStyle/>
                    <a:p>
                      <a:pPr indent="0" marL="0">
                        <a:lnSpc>
                          <a:spcPts val="2240"/>
                        </a:lnSpc>
                        <a:buNone/>
                      </a:pPr>
                      <a:r>
                        <a:rPr lang="en-US" sz="1600" dirty="0">
                          <a:solidFill>
                            <a:srgbClr val="111111"/>
                          </a:solidFill>
                          <a:latin typeface="Arial" pitchFamily="34" charset="0"/>
                          <a:ea typeface="Arial" pitchFamily="34" charset="-122"/>
                          <a:cs typeface="Arial" pitchFamily="34" charset="-120"/>
                        </a:rPr>
                        <a:t>month</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11111"/>
                          </a:solidFill>
                          <a:latin typeface="Arial" pitchFamily="34" charset="0"/>
                          <a:ea typeface="Arial" pitchFamily="34" charset="-122"/>
                          <a:cs typeface="Arial" pitchFamily="34" charset="-120"/>
                        </a:rPr>
                        <a:t>0.02</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6400800" y="1689100"/>
            <a:ext cx="512775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111"/>
                </a:solidFill>
                <a:latin typeface="Arial" pitchFamily="34" charset="0"/>
                <a:ea typeface="Arial" pitchFamily="34" charset="-122"/>
                <a:cs typeface="Arial" pitchFamily="34" charset="-120"/>
              </a:rPr>
              <a:t>For the bank</a:t>
            </a:r>
            <a:endParaRPr lang="en-US" sz="2000" dirty="0"/>
          </a:p>
        </p:txBody>
      </p:sp>
      <p:sp>
        <p:nvSpPr>
          <p:cNvPr id="6" name="Text 3"/>
          <p:cNvSpPr/>
          <p:nvPr/>
        </p:nvSpPr>
        <p:spPr>
          <a:xfrm>
            <a:off x="6400800" y="2197100"/>
            <a:ext cx="5127752" cy="92075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11111"/>
                </a:solidFill>
                <a:latin typeface="Arial" pitchFamily="34" charset="0"/>
                <a:ea typeface="Arial" pitchFamily="34" charset="-122"/>
                <a:cs typeface="Arial" pitchFamily="34" charset="-120"/>
              </a:rPr>
              <a:t>When</a:t>
            </a:r>
            <a:r>
              <a:rPr lang="en-US" sz="1700" dirty="0">
                <a:solidFill>
                  <a:srgbClr val="111111"/>
                </a:solidFill>
                <a:latin typeface="Arial" pitchFamily="34" charset="0"/>
                <a:ea typeface="Arial" pitchFamily="34" charset="-122"/>
                <a:cs typeface="Arial" pitchFamily="34" charset="-120"/>
              </a:rPr>
              <a:t> a client is called matters more than </a:t>
            </a:r>
            <a:r>
              <a:rPr lang="en-US" sz="1700" b="1" dirty="0">
                <a:solidFill>
                  <a:srgbClr val="111111"/>
                </a:solidFill>
                <a:latin typeface="Arial" pitchFamily="34" charset="0"/>
                <a:ea typeface="Arial" pitchFamily="34" charset="-122"/>
                <a:cs typeface="Arial" pitchFamily="34" charset="-120"/>
              </a:rPr>
              <a:t>who</a:t>
            </a:r>
            <a:r>
              <a:rPr lang="en-US" sz="1700" dirty="0">
                <a:solidFill>
                  <a:srgbClr val="111111"/>
                </a:solidFill>
                <a:latin typeface="Arial" pitchFamily="34" charset="0"/>
                <a:ea typeface="Arial" pitchFamily="34" charset="-122"/>
                <a:cs typeface="Arial" pitchFamily="34" charset="-120"/>
              </a:rPr>
              <a:t> they are: in bad economic times many more people took a deposit.</a:t>
            </a:r>
            <a:endParaRPr lang="en-US" sz="1700" dirty="0"/>
          </a:p>
        </p:txBody>
      </p:sp>
      <p:sp>
        <p:nvSpPr>
          <p:cNvPr id="7" name="Text 4"/>
          <p:cNvSpPr/>
          <p:nvPr/>
        </p:nvSpPr>
        <p:spPr>
          <a:xfrm>
            <a:off x="6400800" y="3295650"/>
            <a:ext cx="5127752"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11111"/>
                </a:solidFill>
                <a:latin typeface="Arial" pitchFamily="34" charset="0"/>
                <a:ea typeface="Arial" pitchFamily="34" charset="-122"/>
                <a:cs typeface="Arial" pitchFamily="34" charset="-120"/>
              </a:rPr>
              <a:t>Within a period: past success, a mobile number, being young or retired.</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4610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11111"/>
                </a:solidFill>
                <a:latin typeface="Arial" pitchFamily="34" charset="0"/>
                <a:ea typeface="Arial" pitchFamily="34" charset="-122"/>
                <a:cs typeface="Arial" pitchFamily="34" charset="-120"/>
              </a:rPr>
              <a:t>Conclusions and limitations</a:t>
            </a:r>
            <a:endParaRPr lang="en-US" sz="3600" dirty="0"/>
          </a:p>
        </p:txBody>
      </p:sp>
      <p:sp>
        <p:nvSpPr>
          <p:cNvPr id="3" name="Text 1"/>
          <p:cNvSpPr/>
          <p:nvPr/>
        </p:nvSpPr>
        <p:spPr>
          <a:xfrm>
            <a:off x="812800" y="1638300"/>
            <a:ext cx="10883392" cy="6604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11111"/>
                </a:solidFill>
                <a:latin typeface="Arial" pitchFamily="34" charset="0"/>
                <a:ea typeface="Arial" pitchFamily="34" charset="-122"/>
                <a:cs typeface="Arial" pitchFamily="34" charset="-120"/>
              </a:rPr>
              <a:t>Future check:</a:t>
            </a:r>
            <a:r>
              <a:rPr lang="en-US" sz="1800" dirty="0">
                <a:solidFill>
                  <a:srgbClr val="111111"/>
                </a:solidFill>
                <a:latin typeface="Arial" pitchFamily="34" charset="0"/>
                <a:ea typeface="Arial" pitchFamily="34" charset="-122"/>
                <a:cs typeface="Arial" pitchFamily="34" charset="-120"/>
              </a:rPr>
              <a:t> trained on older calls, tested on newer ones → F1 </a:t>
            </a:r>
            <a:r>
              <a:rPr lang="en-US" sz="1800" b="1" dirty="0">
                <a:solidFill>
                  <a:srgbClr val="111111"/>
                </a:solidFill>
                <a:latin typeface="Arial" pitchFamily="34" charset="0"/>
                <a:ea typeface="Arial" pitchFamily="34" charset="-122"/>
                <a:cs typeface="Arial" pitchFamily="34" charset="-120"/>
              </a:rPr>
              <a:t>0.398</a:t>
            </a:r>
            <a:r>
              <a:rPr lang="en-US" sz="1800" dirty="0">
                <a:solidFill>
                  <a:srgbClr val="111111"/>
                </a:solidFill>
                <a:latin typeface="Arial" pitchFamily="34" charset="0"/>
                <a:ea typeface="Arial" pitchFamily="34" charset="-122"/>
                <a:cs typeface="Arial" pitchFamily="34" charset="-120"/>
              </a:rPr>
              <a:t>, worse than calling everyone in that period (0.468).</a:t>
            </a:r>
            <a:endParaRPr lang="en-US" sz="1800" dirty="0"/>
          </a:p>
        </p:txBody>
      </p:sp>
      <p:sp>
        <p:nvSpPr>
          <p:cNvPr id="4" name="Text 2"/>
          <p:cNvSpPr/>
          <p:nvPr/>
        </p:nvSpPr>
        <p:spPr>
          <a:xfrm>
            <a:off x="812800" y="2578100"/>
            <a:ext cx="512775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111"/>
                </a:solidFill>
                <a:latin typeface="Arial" pitchFamily="34" charset="0"/>
                <a:ea typeface="Arial" pitchFamily="34" charset="-122"/>
                <a:cs typeface="Arial" pitchFamily="34" charset="-120"/>
              </a:rPr>
              <a:t>Would I use it?</a:t>
            </a:r>
            <a:endParaRPr lang="en-US" sz="2000" dirty="0"/>
          </a:p>
        </p:txBody>
      </p:sp>
      <p:sp>
        <p:nvSpPr>
          <p:cNvPr id="5" name="Text 3"/>
          <p:cNvSpPr/>
          <p:nvPr/>
        </p:nvSpPr>
        <p:spPr>
          <a:xfrm>
            <a:off x="889508" y="2984500"/>
            <a:ext cx="5043424" cy="2011680"/>
          </a:xfrm>
          <a:prstGeom prst="rect">
            <a:avLst/>
          </a:prstGeom>
          <a:noFill/>
          <a:ln/>
        </p:spPr>
        <p:txBody>
          <a:bodyPr wrap="square" lIns="0" tIns="0" rIns="0" bIns="0" rtlCol="0" anchor="t">
            <a:normAutofit/>
          </a:bodyPr>
          <a:lstStyle/>
          <a:p>
            <a:pPr algn="l" marL="177292" indent="-177292">
              <a:lnSpc>
                <a:spcPts val="2320"/>
              </a:lnSpc>
              <a:buSzPct val="100000"/>
              <a:buChar char="•"/>
            </a:pPr>
            <a:r>
              <a:rPr lang="en-US" sz="1600" dirty="0">
                <a:solidFill>
                  <a:srgbClr val="111111"/>
                </a:solidFill>
                <a:latin typeface="Arial" pitchFamily="34" charset="0"/>
                <a:ea typeface="Arial" pitchFamily="34" charset="-122"/>
                <a:cs typeface="Arial" pitchFamily="34" charset="-120"/>
              </a:rPr>
              <a:t>Not as it is for a new campaign</a:t>
            </a:r>
            <a:endParaRPr lang="en-US" sz="1600" dirty="0"/>
          </a:p>
          <a:p>
            <a:pPr algn="l" marL="177292" indent="-177292">
              <a:lnSpc>
                <a:spcPts val="2320"/>
              </a:lnSpc>
              <a:buSzPct val="100000"/>
              <a:buChar char="•"/>
            </a:pPr>
            <a:r>
              <a:rPr lang="en-US" sz="1600" dirty="0">
                <a:solidFill>
                  <a:srgbClr val="111111"/>
                </a:solidFill>
                <a:latin typeface="Arial" pitchFamily="34" charset="0"/>
                <a:ea typeface="Arial" pitchFamily="34" charset="-122"/>
                <a:cs typeface="Arial" pitchFamily="34" charset="-120"/>
              </a:rPr>
              <a:t>Use the patterns now: always call past successes, mobile numbers, students and retired</a:t>
            </a:r>
            <a:endParaRPr lang="en-US" sz="1600" dirty="0"/>
          </a:p>
          <a:p>
            <a:pPr algn="l" marL="177292" indent="-177292">
              <a:lnSpc>
                <a:spcPts val="2320"/>
              </a:lnSpc>
              <a:buSzPct val="100000"/>
              <a:buChar char="•"/>
            </a:pPr>
            <a:r>
              <a:rPr lang="en-US" sz="1600" dirty="0">
                <a:solidFill>
                  <a:srgbClr val="111111"/>
                </a:solidFill>
                <a:latin typeface="Arial" pitchFamily="34" charset="0"/>
                <a:ea typeface="Arial" pitchFamily="34" charset="-122"/>
                <a:cs typeface="Arial" pitchFamily="34" charset="-120"/>
              </a:rPr>
              <a:t>Don’t call the same client again and again</a:t>
            </a:r>
            <a:endParaRPr lang="en-US" sz="1600" dirty="0"/>
          </a:p>
        </p:txBody>
      </p:sp>
      <p:sp>
        <p:nvSpPr>
          <p:cNvPr id="6" name="Text 4"/>
          <p:cNvSpPr/>
          <p:nvPr/>
        </p:nvSpPr>
        <p:spPr>
          <a:xfrm>
            <a:off x="6400800" y="2578100"/>
            <a:ext cx="512775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111"/>
                </a:solidFill>
                <a:latin typeface="Arial" pitchFamily="34" charset="0"/>
                <a:ea typeface="Arial" pitchFamily="34" charset="-122"/>
                <a:cs typeface="Arial" pitchFamily="34" charset="-120"/>
              </a:rPr>
              <a:t>With another week</a:t>
            </a:r>
            <a:endParaRPr lang="en-US" sz="2000" dirty="0"/>
          </a:p>
        </p:txBody>
      </p:sp>
      <p:sp>
        <p:nvSpPr>
          <p:cNvPr id="7" name="Text 5"/>
          <p:cNvSpPr/>
          <p:nvPr/>
        </p:nvSpPr>
        <p:spPr>
          <a:xfrm>
            <a:off x="6477508" y="2984500"/>
            <a:ext cx="5043424" cy="2011680"/>
          </a:xfrm>
          <a:prstGeom prst="rect">
            <a:avLst/>
          </a:prstGeom>
          <a:noFill/>
          <a:ln/>
        </p:spPr>
        <p:txBody>
          <a:bodyPr wrap="square" lIns="0" tIns="0" rIns="0" bIns="0" rtlCol="0" anchor="t">
            <a:normAutofit/>
          </a:bodyPr>
          <a:lstStyle/>
          <a:p>
            <a:pPr algn="l" marL="177292" indent="-177292">
              <a:lnSpc>
                <a:spcPts val="2320"/>
              </a:lnSpc>
              <a:buSzPct val="100000"/>
              <a:buChar char="•"/>
            </a:pPr>
            <a:r>
              <a:rPr lang="en-US" sz="1600" dirty="0">
                <a:solidFill>
                  <a:srgbClr val="111111"/>
                </a:solidFill>
                <a:latin typeface="Arial" pitchFamily="34" charset="0"/>
                <a:ea typeface="Arial" pitchFamily="34" charset="-122"/>
                <a:cs typeface="Arial" pitchFamily="34" charset="-120"/>
              </a:rPr>
              <a:t>Test on later campaigns instead of a random split</a:t>
            </a:r>
            <a:endParaRPr lang="en-US" sz="1600" dirty="0"/>
          </a:p>
          <a:p>
            <a:pPr algn="l" marL="177292" indent="-177292">
              <a:lnSpc>
                <a:spcPts val="2320"/>
              </a:lnSpc>
              <a:buSzPct val="100000"/>
              <a:buChar char="•"/>
            </a:pPr>
            <a:r>
              <a:rPr lang="en-US" sz="1600" dirty="0">
                <a:solidFill>
                  <a:srgbClr val="111111"/>
                </a:solidFill>
                <a:latin typeface="Arial" pitchFamily="34" charset="0"/>
                <a:ea typeface="Arial" pitchFamily="34" charset="-122"/>
                <a:cs typeface="Arial" pitchFamily="34" charset="-120"/>
              </a:rPr>
              <a:t>Keep the economy, but in a form that carries over to new periods (e.g. trends instead of exact values)</a:t>
            </a:r>
            <a:endParaRPr lang="en-US" sz="1600" dirty="0"/>
          </a:p>
          <a:p>
            <a:pPr algn="l" marL="177292" indent="-177292">
              <a:lnSpc>
                <a:spcPts val="2320"/>
              </a:lnSpc>
              <a:buSzPct val="100000"/>
              <a:buChar char="•"/>
            </a:pPr>
            <a:r>
              <a:rPr lang="en-US" sz="1600" dirty="0">
                <a:solidFill>
                  <a:srgbClr val="111111"/>
                </a:solidFill>
                <a:latin typeface="Arial" pitchFamily="34" charset="0"/>
                <a:ea typeface="Arial" pitchFamily="34" charset="-122"/>
                <a:cs typeface="Arial" pitchFamily="34" charset="-120"/>
              </a:rPr>
              <a:t>Real call costs and deposit value from the bank</a:t>
            </a:r>
            <a:endParaRPr lang="en-US" sz="1600" dirty="0"/>
          </a:p>
          <a:p>
            <a:pPr algn="l" marL="177292" indent="-177292">
              <a:lnSpc>
                <a:spcPts val="2320"/>
              </a:lnSpc>
              <a:buSzPct val="100000"/>
              <a:buChar char="•"/>
            </a:pPr>
            <a:r>
              <a:rPr lang="en-US" sz="1600" dirty="0">
                <a:solidFill>
                  <a:srgbClr val="111111"/>
                </a:solidFill>
                <a:latin typeface="Arial" pitchFamily="34" charset="0"/>
                <a:ea typeface="Arial" pitchFamily="34" charset="-122"/>
                <a:cs typeface="Arial" pitchFamily="34" charset="-120"/>
              </a:rPr>
              <a:t>Retrain on recent campaigns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4610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11111"/>
                </a:solidFill>
                <a:latin typeface="Arial" pitchFamily="34" charset="0"/>
                <a:ea typeface="Arial" pitchFamily="34" charset="-122"/>
                <a:cs typeface="Arial" pitchFamily="34" charset="-120"/>
              </a:rPr>
              <a:t>Live demo</a:t>
            </a:r>
            <a:endParaRPr lang="en-US" sz="3600" dirty="0"/>
          </a:p>
        </p:txBody>
      </p:sp>
      <p:sp>
        <p:nvSpPr>
          <p:cNvPr id="3" name="Text 1"/>
          <p:cNvSpPr/>
          <p:nvPr/>
        </p:nvSpPr>
        <p:spPr>
          <a:xfrm>
            <a:off x="812800" y="1638300"/>
            <a:ext cx="10883392" cy="6604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11111"/>
                </a:solidFill>
                <a:latin typeface="Arial" pitchFamily="34" charset="0"/>
                <a:ea typeface="Arial" pitchFamily="34" charset="-122"/>
                <a:cs typeface="Arial" pitchFamily="34" charset="-120"/>
              </a:rPr>
              <a:t>The saved model (pipeline + threshold 0.60) is loaded and asked about one client, a 67-year-old retired person with a mobile number:</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590800"/>
          <a:ext cx="10553700" cy="1863725"/>
        </p:xfrm>
        <a:graphic>
          <a:graphicData uri="http://schemas.openxmlformats.org/drawingml/2006/table">
            <a:tbl>
              <a:tblPr/>
              <a:tblGrid>
                <a:gridCol w="5804535"/>
                <a:gridCol w="2638425"/>
                <a:gridCol w="2110740"/>
              </a:tblGrid>
              <a:tr h="465931">
                <a:tc>
                  <a:txBody>
                    <a:bodyPr/>
                    <a:lstStyle/>
                    <a:p>
                      <a:pPr indent="0" marL="0">
                        <a:lnSpc>
                          <a:spcPts val="2380"/>
                        </a:lnSpc>
                        <a:buNone/>
                      </a:pPr>
                      <a:r>
                        <a:rPr lang="en-US" sz="1700" b="1" dirty="0">
                          <a:solidFill>
                            <a:srgbClr val="111111"/>
                          </a:solidFill>
                          <a:latin typeface="Arial" pitchFamily="34" charset="0"/>
                          <a:ea typeface="Arial" pitchFamily="34" charset="-122"/>
                          <a:cs typeface="Arial" pitchFamily="34" charset="-120"/>
                        </a:rPr>
                        <a:t>Same client, called…</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380"/>
                        </a:lnSpc>
                        <a:buNone/>
                      </a:pPr>
                      <a:r>
                        <a:rPr lang="en-US" sz="1700" b="1" dirty="0">
                          <a:solidFill>
                            <a:srgbClr val="111111"/>
                          </a:solidFill>
                          <a:latin typeface="Arial" pitchFamily="34" charset="0"/>
                          <a:ea typeface="Arial" pitchFamily="34" charset="-122"/>
                          <a:cs typeface="Arial" pitchFamily="34" charset="-120"/>
                        </a:rPr>
                        <a:t>P(yes)</a:t>
                      </a:r>
                      <a:endParaRPr lang="en-US" sz="1700" dirty="0">
                        <a:latin typeface="Arial" charset="0"/>
                        <a:ea typeface="Arial" charset="0"/>
                        <a:cs typeface="Arial" charset="0"/>
                      </a:endParaRPr>
                    </a:p>
                  </a:txBody>
                  <a:tcPr marL="75565" marR="75565" marT="75565" marB="7556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380"/>
                        </a:lnSpc>
                        <a:buNone/>
                      </a:pPr>
                      <a:r>
                        <a:rPr lang="en-US" sz="1700" b="1" dirty="0">
                          <a:solidFill>
                            <a:srgbClr val="111111"/>
                          </a:solidFill>
                          <a:latin typeface="Arial" pitchFamily="34" charset="0"/>
                          <a:ea typeface="Arial" pitchFamily="34" charset="-122"/>
                          <a:cs typeface="Arial" pitchFamily="34" charset="-120"/>
                        </a:rPr>
                        <a:t>Decision</a:t>
                      </a:r>
                      <a:endParaRPr lang="en-US" sz="1700" dirty="0">
                        <a:latin typeface="Arial" charset="0"/>
                        <a:ea typeface="Arial" charset="0"/>
                        <a:cs typeface="Arial" charset="0"/>
                      </a:endParaRPr>
                    </a:p>
                  </a:txBody>
                  <a:tcPr marL="75565" marR="75565" marT="75565" marB="7556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65931">
                <a:tc>
                  <a:txBody>
                    <a:bodyPr/>
                    <a:lstStyle/>
                    <a:p>
                      <a:pPr indent="0" marL="0">
                        <a:lnSpc>
                          <a:spcPts val="2380"/>
                        </a:lnSpc>
                        <a:buNone/>
                      </a:pPr>
                      <a:r>
                        <a:rPr lang="en-US" sz="1700" dirty="0">
                          <a:solidFill>
                            <a:srgbClr val="111111"/>
                          </a:solidFill>
                          <a:latin typeface="Arial" pitchFamily="34" charset="0"/>
                          <a:ea typeface="Arial" pitchFamily="34" charset="-122"/>
                          <a:cs typeface="Arial" pitchFamily="34" charset="-120"/>
                        </a:rPr>
                        <a:t>in a bad economic period (Oct, low rates)</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380"/>
                        </a:lnSpc>
                        <a:buNone/>
                      </a:pPr>
                      <a:r>
                        <a:rPr lang="en-US" sz="1700" dirty="0">
                          <a:solidFill>
                            <a:srgbClr val="111111"/>
                          </a:solidFill>
                          <a:latin typeface="Arial" pitchFamily="34" charset="0"/>
                          <a:ea typeface="Arial" pitchFamily="34" charset="-122"/>
                          <a:cs typeface="Arial" pitchFamily="34" charset="-120"/>
                        </a:rPr>
                        <a:t>0.81</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380"/>
                        </a:lnSpc>
                        <a:buNone/>
                      </a:pPr>
                      <a:r>
                        <a:rPr lang="en-US" sz="1700" dirty="0">
                          <a:solidFill>
                            <a:srgbClr val="111111"/>
                          </a:solidFill>
                          <a:latin typeface="Arial" pitchFamily="34" charset="0"/>
                          <a:ea typeface="Arial" pitchFamily="34" charset="-122"/>
                          <a:cs typeface="Arial" pitchFamily="34" charset="-120"/>
                        </a:rPr>
                        <a:t>call</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65931">
                <a:tc>
                  <a:txBody>
                    <a:bodyPr/>
                    <a:lstStyle/>
                    <a:p>
                      <a:pPr indent="0" marL="0">
                        <a:lnSpc>
                          <a:spcPts val="2380"/>
                        </a:lnSpc>
                        <a:buNone/>
                      </a:pPr>
                      <a:r>
                        <a:rPr lang="en-US" sz="1700" dirty="0">
                          <a:solidFill>
                            <a:srgbClr val="111111"/>
                          </a:solidFill>
                          <a:latin typeface="Arial" pitchFamily="34" charset="0"/>
                          <a:ea typeface="Arial" pitchFamily="34" charset="-122"/>
                          <a:cs typeface="Arial" pitchFamily="34" charset="-120"/>
                        </a:rPr>
                        <a:t>in a good economic period (Jul, high rates)</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380"/>
                        </a:lnSpc>
                        <a:buNone/>
                      </a:pPr>
                      <a:r>
                        <a:rPr lang="en-US" sz="1700" dirty="0">
                          <a:solidFill>
                            <a:srgbClr val="111111"/>
                          </a:solidFill>
                          <a:latin typeface="Arial" pitchFamily="34" charset="0"/>
                          <a:ea typeface="Arial" pitchFamily="34" charset="-122"/>
                          <a:cs typeface="Arial" pitchFamily="34" charset="-120"/>
                        </a:rPr>
                        <a:t>0.37</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380"/>
                        </a:lnSpc>
                        <a:buNone/>
                      </a:pPr>
                      <a:r>
                        <a:rPr lang="en-US" sz="1700" dirty="0">
                          <a:solidFill>
                            <a:srgbClr val="111111"/>
                          </a:solidFill>
                          <a:latin typeface="Arial" pitchFamily="34" charset="0"/>
                          <a:ea typeface="Arial" pitchFamily="34" charset="-122"/>
                          <a:cs typeface="Arial" pitchFamily="34" charset="-120"/>
                        </a:rPr>
                        <a:t>skip</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65931">
                <a:tc>
                  <a:txBody>
                    <a:bodyPr/>
                    <a:lstStyle/>
                    <a:p>
                      <a:pPr indent="0" marL="0">
                        <a:lnSpc>
                          <a:spcPts val="2380"/>
                        </a:lnSpc>
                        <a:buNone/>
                      </a:pPr>
                      <a:r>
                        <a:rPr lang="en-US" sz="1700" dirty="0">
                          <a:solidFill>
                            <a:srgbClr val="111111"/>
                          </a:solidFill>
                          <a:latin typeface="Arial" pitchFamily="34" charset="0"/>
                          <a:ea typeface="Arial" pitchFamily="34" charset="-122"/>
                          <a:cs typeface="Arial" pitchFamily="34" charset="-120"/>
                        </a:rPr>
                        <a:t>good period, but last campaign was a success</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380"/>
                        </a:lnSpc>
                        <a:buNone/>
                      </a:pPr>
                      <a:r>
                        <a:rPr lang="en-US" sz="1700" dirty="0">
                          <a:solidFill>
                            <a:srgbClr val="111111"/>
                          </a:solidFill>
                          <a:latin typeface="Arial" pitchFamily="34" charset="0"/>
                          <a:ea typeface="Arial" pitchFamily="34" charset="-122"/>
                          <a:cs typeface="Arial" pitchFamily="34" charset="-120"/>
                        </a:rPr>
                        <a:t>0.69</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380"/>
                        </a:lnSpc>
                        <a:buNone/>
                      </a:pPr>
                      <a:r>
                        <a:rPr lang="en-US" sz="1700" dirty="0">
                          <a:solidFill>
                            <a:srgbClr val="111111"/>
                          </a:solidFill>
                          <a:latin typeface="Arial" pitchFamily="34" charset="0"/>
                          <a:ea typeface="Arial" pitchFamily="34" charset="-122"/>
                          <a:cs typeface="Arial" pitchFamily="34" charset="-120"/>
                        </a:rPr>
                        <a:t>call</a:t>
                      </a:r>
                      <a:endParaRPr lang="en-US" sz="1700" dirty="0">
                        <a:latin typeface="Arial" charset="0"/>
                        <a:ea typeface="Arial" charset="0"/>
                        <a:cs typeface="Arial"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759325"/>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55555"/>
                </a:solidFill>
                <a:latin typeface="Arial" pitchFamily="34" charset="0"/>
                <a:ea typeface="Arial" pitchFamily="34" charset="-122"/>
                <a:cs typeface="Arial" pitchFamily="34" charset="-120"/>
              </a:rPr>
              <a:t>notebooks/03_evaluation_and_interpretation.ipynb · section 5</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2454275"/>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11111"/>
                </a:solidFill>
                <a:latin typeface="Arial" pitchFamily="34" charset="0"/>
                <a:ea typeface="Arial" pitchFamily="34" charset="-122"/>
                <a:cs typeface="Arial" pitchFamily="34" charset="-120"/>
              </a:rPr>
              <a:t>Thank you</a:t>
            </a:r>
            <a:endParaRPr lang="en-US" sz="6000" dirty="0"/>
          </a:p>
        </p:txBody>
      </p:sp>
      <p:sp>
        <p:nvSpPr>
          <p:cNvPr id="3" name="Text 1"/>
          <p:cNvSpPr/>
          <p:nvPr/>
        </p:nvSpPr>
        <p:spPr>
          <a:xfrm>
            <a:off x="812800" y="3508375"/>
            <a:ext cx="10883392" cy="38735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11111"/>
                </a:solidFill>
                <a:latin typeface="Arial" pitchFamily="34" charset="0"/>
                <a:ea typeface="Arial" pitchFamily="34" charset="-122"/>
                <a:cs typeface="Arial" pitchFamily="34" charset="-120"/>
              </a:rPr>
              <a:t>Who will subscribe to a term deposit?</a:t>
            </a:r>
            <a:endParaRPr lang="en-US" sz="2200" dirty="0"/>
          </a:p>
        </p:txBody>
      </p:sp>
      <p:sp>
        <p:nvSpPr>
          <p:cNvPr id="4" name="Text 2"/>
          <p:cNvSpPr/>
          <p:nvPr/>
        </p:nvSpPr>
        <p:spPr>
          <a:xfrm>
            <a:off x="812800" y="4124325"/>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55555"/>
                </a:solidFill>
                <a:latin typeface="Arial" pitchFamily="34" charset="0"/>
                <a:ea typeface="Arial" pitchFamily="34" charset="-122"/>
                <a:cs typeface="Arial" pitchFamily="34" charset="-120"/>
              </a:rPr>
              <a:t>Tamim Wahage · Questions welcome</a:t>
            </a:r>
            <a:endParaRPr lang="en-US" sz="1600" dirty="0"/>
          </a:p>
        </p:txBody>
      </p:sp>
    </p:spTree>
  </p:cSld>
  <p:clrMapOvr>
    <a:masterClrMapping/>
  </p:clrMapOvr>
</p:sld>
</file>

<file path=ppt/theme/theme1.xml><?xml version="1.0" encoding="utf-8"?>
<a:theme xmlns:a="http://schemas.openxmlformats.org/drawingml/2006/main" name="Bank Marketing: Who Subscribes?">
  <a:themeElements>
    <a:clrScheme name="Bank Marketing: Who Subscribes?">
      <a:dk1>
        <a:srgbClr val="111111"/>
      </a:dk1>
      <a:lt1>
        <a:srgbClr val="FFFFFF"/>
      </a:lt1>
      <a:dk2>
        <a:srgbClr val="4D4D4D"/>
      </a:dk2>
      <a:lt2>
        <a:srgbClr val="E7E7E7"/>
      </a:lt2>
      <a:accent1>
        <a:srgbClr val="555555"/>
      </a:accent1>
      <a:accent2>
        <a:srgbClr val="9AA0A6"/>
      </a:accent2>
      <a:accent3>
        <a:srgbClr val="707070"/>
      </a:accent3>
      <a:accent4>
        <a:srgbClr val="949494"/>
      </a:accent4>
      <a:accent5>
        <a:srgbClr val="B8B8B8"/>
      </a:accent5>
      <a:accent6>
        <a:srgbClr val="CFCFCF"/>
      </a:accent6>
      <a:hlink>
        <a:srgbClr val="0563C1"/>
      </a:hlink>
      <a:folHlink>
        <a:srgbClr val="954F72"/>
      </a:folHlink>
    </a:clrScheme>
    <a:fontScheme name="Bank Marketing: Who Subscrib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Marketing: Who Subscribes?</dc:title>
  <dc:subject/>
  <dc:creator/>
  <cp:lastModifiedBy/>
  <cp:revision>1</cp:revision>
  <dcterms:created xsi:type="dcterms:W3CDTF">2026-10-22T08:23:18Z</dcterms:created>
  <dcterms:modified xsi:type="dcterms:W3CDTF">2026-10-22T08:23:18Z</dcterms:modified>
</cp:coreProperties>
</file>